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VeriSWE is an autonomous coding-agent harness built around one principle: the model proposes, the harness decides. Every team has the same model; what differs is whether the harness can prove its result. Ours only says VERIFIED when it has objective evidence, and otherwise says UNVERIFIED —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shows most agent failures are the model claiming success without checking; verification at the harness level is the single biggest lever; and harness design changes cost by up to 40x on the same model. Those are exactly the hackathon's three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establish evidence that fails, make a minimal fix, then submit. On submit the harness — not the model — re-runs everything. A rejection sends exact logs back and the agent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checks, all run by the harness on the original and the changed code. Evidence depends on the task type the agent declares. If there is no objective proof, the result is UNVERIFIED — we never present a claim as success, and a crashing verifier is an error state, not a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dashboard after a run: the agent's first patch broke odd-length inputs, the gate rejected it, the agent reverted and changed strategy, and round two was verified. Everything on screen comes from real harness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came from a real failure we hit during testing — Groq rejecting its own tool-call parse, per-request token caps, daily quotas, malformed JSON. Each is now a recovery path with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DeepSeek and Qwen keys look like generic sk- keys, so VeriSWE probes the hosts in parallel and picks the strongest model the key can use. DeepSeek's thinking mode requires passing reasoning back on every turn; Qwen's open models reject non-streaming thinking calls — both handled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live Qwen run the harness solved and verified the task in 6 model calls, about 13 thousand tokens, under a minute, roughly one cent. Telemetry records every event and how much context was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Makefile is exercised in CI on Ubuntu, macOS, Debian without python3-venv, a Python-3.9-only machine and python-slim. The API key is only read from AI_API_KEY, removed from the agent's shell, and redacted from every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kept mini-swe-agent's small, provider-agnostic loop and added everything it leaves out: verification, editing tools, context management, recovery, model discovery, telemetry and the TUI.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make run with the organisers' key. Guaranteed: make demo-recovery replays scripted model decisions through the real harness — the first patch is rejected by the gate, the agent recovers, round two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model reasons; VeriSWE supplies autonomy, action, feedback, resilience, trust and observability. Every claim in this deck has a test or a telemetry file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640080"/>
            <a:ext cx="5669280" cy="320040"/>
          </a:xfrm>
          <a:prstGeom prst="rect">
            <a:avLst/>
          </a:prstGeom>
          <a:noFill/>
          <a:ln/>
        </p:spPr>
        <p:txBody>
          <a:bodyPr wrap="square" lIns="0" tIns="0" rIns="0" bIns="0" rtlCol="0" anchor="t"/>
          <a:lstStyle/>
          <a:p>
            <a:pPr indent="0" marL="0">
              <a:buNone/>
            </a:pPr>
            <a:r>
              <a:rPr lang="en-US" sz="1200" b="1" spc="200" kern="0" dirty="0">
                <a:solidFill>
                  <a:srgbClr val="58A6FF"/>
                </a:solidFill>
                <a:latin typeface="Calibri" pitchFamily="34" charset="0"/>
                <a:ea typeface="Calibri" pitchFamily="34" charset="-122"/>
                <a:cs typeface="Calibri" pitchFamily="34" charset="-120"/>
              </a:rPr>
              <a:t>LCC × DEVCLUB  ·  AI CODING HARNESS HACKATHON 2026</a:t>
            </a:r>
            <a:endParaRPr lang="en-US" sz="1200" dirty="0"/>
          </a:p>
        </p:txBody>
      </p:sp>
      <p:sp>
        <p:nvSpPr>
          <p:cNvPr id="3" name="Text 1"/>
          <p:cNvSpPr txBox="1"/>
          <p:nvPr/>
        </p:nvSpPr>
        <p:spPr>
          <a:xfrm>
            <a:off x="548640" y="1234440"/>
            <a:ext cx="5669280" cy="1097280"/>
          </a:xfrm>
          <a:prstGeom prst="rect">
            <a:avLst/>
          </a:prstGeom>
          <a:noFill/>
          <a:ln/>
        </p:spPr>
        <p:txBody>
          <a:bodyPr wrap="square" lIns="0" tIns="0" rIns="0" bIns="0" rtlCol="0" anchor="ctr"/>
          <a:lstStyle/>
          <a:p>
            <a:pPr indent="0" marL="0">
              <a:buNone/>
            </a:pPr>
            <a:r>
              <a:rPr lang="en-US" sz="6600" b="1" dirty="0">
                <a:solidFill>
                  <a:srgbClr val="E6EDF3"/>
                </a:solidFill>
                <a:latin typeface="Arial" pitchFamily="34" charset="0"/>
                <a:ea typeface="Arial" pitchFamily="34" charset="-122"/>
                <a:cs typeface="Arial" pitchFamily="34" charset="-120"/>
              </a:rPr>
              <a:t>VeriSWE</a:t>
            </a:r>
            <a:endParaRPr lang="en-US" sz="6600" dirty="0"/>
          </a:p>
        </p:txBody>
      </p:sp>
      <p:sp>
        <p:nvSpPr>
          <p:cNvPr id="4" name="Text 2"/>
          <p:cNvSpPr txBox="1"/>
          <p:nvPr/>
        </p:nvSpPr>
        <p:spPr>
          <a:xfrm>
            <a:off x="548640" y="2331720"/>
            <a:ext cx="5486400" cy="822960"/>
          </a:xfrm>
          <a:prstGeom prst="rect">
            <a:avLst/>
          </a:prstGeom>
          <a:noFill/>
          <a:ln/>
        </p:spPr>
        <p:txBody>
          <a:bodyPr wrap="square" lIns="0" tIns="0" rIns="0" bIns="0" rtlCol="0" anchor="t"/>
          <a:lstStyle/>
          <a:p>
            <a:pPr indent="0" marL="0">
              <a:buNone/>
            </a:pPr>
            <a:r>
              <a:rPr lang="en-US" sz="2400" dirty="0">
                <a:solidFill>
                  <a:srgbClr val="79C0FF"/>
                </a:solidFill>
                <a:latin typeface="Calibri" pitchFamily="34" charset="0"/>
                <a:ea typeface="Calibri" pitchFamily="34" charset="-122"/>
                <a:cs typeface="Calibri" pitchFamily="34" charset="-120"/>
              </a:rPr>
              <a:t>The verification-first coding-agent harness</a:t>
            </a:r>
            <a:endParaRPr lang="en-US" sz="2400" dirty="0"/>
          </a:p>
        </p:txBody>
      </p:sp>
      <p:sp>
        <p:nvSpPr>
          <p:cNvPr id="5" name="Text 3"/>
          <p:cNvSpPr txBox="1"/>
          <p:nvPr/>
        </p:nvSpPr>
        <p:spPr>
          <a:xfrm>
            <a:off x="548640" y="3383280"/>
            <a:ext cx="5486400" cy="914400"/>
          </a:xfrm>
          <a:prstGeom prst="rect">
            <a:avLst/>
          </a:prstGeom>
          <a:noFill/>
          <a:ln/>
        </p:spPr>
        <p:txBody>
          <a:bodyPr wrap="square" lIns="0" tIns="0" rIns="0" bIns="0" rtlCol="0" anchor="t"/>
          <a:lstStyle/>
          <a:p>
            <a:pPr indent="0" marL="0">
              <a:buNone/>
            </a:pPr>
            <a:r>
              <a:rPr lang="en-US" sz="2000" i="1" dirty="0">
                <a:solidFill>
                  <a:srgbClr val="E6EDF3"/>
                </a:solidFill>
                <a:latin typeface="Calibri" pitchFamily="34" charset="0"/>
                <a:ea typeface="Calibri" pitchFamily="34" charset="-122"/>
                <a:cs typeface="Calibri" pitchFamily="34" charset="-120"/>
              </a:rPr>
              <a:t>Same model. Different harness.</a:t>
            </a:r>
            <a:endParaRPr lang="en-US" sz="2000" dirty="0"/>
          </a:p>
          <a:p>
            <a:pPr indent="0" marL="0">
              <a:buNone/>
            </a:pPr>
            <a:r>
              <a:rPr lang="en-US" sz="2000" b="1" i="1" dirty="0">
                <a:solidFill>
                  <a:srgbClr val="3FB950"/>
                </a:solidFill>
                <a:latin typeface="Calibri" pitchFamily="34" charset="0"/>
                <a:ea typeface="Calibri" pitchFamily="34" charset="-122"/>
                <a:cs typeface="Calibri" pitchFamily="34" charset="-120"/>
              </a:rPr>
              <a:t>Evidence over claims.</a:t>
            </a:r>
            <a:endParaRPr lang="en-US" sz="2000" dirty="0"/>
          </a:p>
        </p:txBody>
      </p:sp>
      <p:sp>
        <p:nvSpPr>
          <p:cNvPr id="6" name="Shape 4"/>
          <p:cNvSpPr/>
          <p:nvPr/>
        </p:nvSpPr>
        <p:spPr>
          <a:xfrm>
            <a:off x="548640" y="4617720"/>
            <a:ext cx="3931920" cy="384048"/>
          </a:xfrm>
          <a:prstGeom prst="roundRect">
            <a:avLst>
              <a:gd name="adj" fmla="val 50000"/>
            </a:avLst>
          </a:prstGeom>
          <a:solidFill>
            <a:srgbClr val="58A6FF">
              <a:alpha val="15000"/>
            </a:srgbClr>
          </a:solidFill>
          <a:ln w="12700">
            <a:solidFill>
              <a:srgbClr val="58A6FF"/>
            </a:solidFill>
            <a:prstDash val="solid"/>
          </a:ln>
        </p:spPr>
      </p:sp>
      <p:sp>
        <p:nvSpPr>
          <p:cNvPr id="7" name="Text 5"/>
          <p:cNvSpPr txBox="1"/>
          <p:nvPr/>
        </p:nvSpPr>
        <p:spPr>
          <a:xfrm>
            <a:off x="731520" y="4617720"/>
            <a:ext cx="3657600" cy="384048"/>
          </a:xfrm>
          <a:prstGeom prst="rect">
            <a:avLst/>
          </a:prstGeom>
          <a:noFill/>
          <a:ln/>
        </p:spPr>
        <p:txBody>
          <a:bodyPr wrap="square" lIns="0" tIns="0" rIns="0" bIns="0"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DeepSeek + Qwen ready</a:t>
            </a:r>
            <a:endParaRPr lang="en-US" sz="1300" dirty="0"/>
          </a:p>
        </p:txBody>
      </p:sp>
      <p:sp>
        <p:nvSpPr>
          <p:cNvPr id="8" name="Shape 6"/>
          <p:cNvSpPr/>
          <p:nvPr/>
        </p:nvSpPr>
        <p:spPr>
          <a:xfrm>
            <a:off x="548640" y="5120640"/>
            <a:ext cx="3931920" cy="384048"/>
          </a:xfrm>
          <a:prstGeom prst="roundRect">
            <a:avLst>
              <a:gd name="adj" fmla="val 50000"/>
            </a:avLst>
          </a:prstGeom>
          <a:solidFill>
            <a:srgbClr val="F0B429">
              <a:alpha val="15000"/>
            </a:srgbClr>
          </a:solidFill>
          <a:ln w="12700">
            <a:solidFill>
              <a:srgbClr val="F0B429"/>
            </a:solidFill>
            <a:prstDash val="solid"/>
          </a:ln>
        </p:spPr>
      </p:sp>
      <p:sp>
        <p:nvSpPr>
          <p:cNvPr id="9" name="Text 7"/>
          <p:cNvSpPr txBox="1"/>
          <p:nvPr/>
        </p:nvSpPr>
        <p:spPr>
          <a:xfrm>
            <a:off x="731520" y="5120640"/>
            <a:ext cx="3657600" cy="384048"/>
          </a:xfrm>
          <a:prstGeom prst="rect">
            <a:avLst/>
          </a:prstGeom>
          <a:noFill/>
          <a:ln/>
        </p:spPr>
        <p:txBody>
          <a:bodyPr wrap="square" lIns="0" tIns="0" rIns="0" bIns="0" rtlCol="0" anchor="ctr"/>
          <a:lstStyle/>
          <a:p>
            <a:pPr indent="0" marL="0">
              <a:buNone/>
            </a:pPr>
            <a:r>
              <a:rPr lang="en-US" sz="1300" b="1" dirty="0">
                <a:solidFill>
                  <a:srgbClr val="F0B429"/>
                </a:solidFill>
                <a:latin typeface="Calibri" pitchFamily="34" charset="0"/>
                <a:ea typeface="Calibri" pitchFamily="34" charset="-122"/>
                <a:cs typeface="Calibri" pitchFamily="34" charset="-120"/>
              </a:rPr>
              <a:t>make setup · run · test</a:t>
            </a:r>
            <a:endParaRPr lang="en-US" sz="1300" dirty="0"/>
          </a:p>
        </p:txBody>
      </p:sp>
      <p:sp>
        <p:nvSpPr>
          <p:cNvPr id="10" name="Shape 8"/>
          <p:cNvSpPr/>
          <p:nvPr/>
        </p:nvSpPr>
        <p:spPr>
          <a:xfrm>
            <a:off x="548640" y="5623560"/>
            <a:ext cx="3931920" cy="384048"/>
          </a:xfrm>
          <a:prstGeom prst="roundRect">
            <a:avLst>
              <a:gd name="adj" fmla="val 50000"/>
            </a:avLst>
          </a:prstGeom>
          <a:solidFill>
            <a:srgbClr val="3FB950">
              <a:alpha val="15000"/>
            </a:srgbClr>
          </a:solidFill>
          <a:ln w="12700">
            <a:solidFill>
              <a:srgbClr val="3FB950"/>
            </a:solidFill>
            <a:prstDash val="solid"/>
          </a:ln>
        </p:spPr>
      </p:sp>
      <p:sp>
        <p:nvSpPr>
          <p:cNvPr id="11" name="Text 9"/>
          <p:cNvSpPr txBox="1"/>
          <p:nvPr/>
        </p:nvSpPr>
        <p:spPr>
          <a:xfrm>
            <a:off x="731520" y="5623560"/>
            <a:ext cx="3657600" cy="384048"/>
          </a:xfrm>
          <a:prstGeom prst="rect">
            <a:avLst/>
          </a:prstGeom>
          <a:noFill/>
          <a:ln/>
        </p:spPr>
        <p:txBody>
          <a:bodyPr wrap="square" lIns="0" tIns="0" rIns="0" bIns="0"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VERIFIED or honestly UNVERIFIED</a:t>
            </a:r>
            <a:endParaRPr lang="en-US" sz="1300" dirty="0"/>
          </a:p>
        </p:txBody>
      </p:sp>
      <p:sp>
        <p:nvSpPr>
          <p:cNvPr id="12" name="Shape 10"/>
          <p:cNvSpPr/>
          <p:nvPr/>
        </p:nvSpPr>
        <p:spPr>
          <a:xfrm>
            <a:off x="6355080" y="868680"/>
            <a:ext cx="5349240" cy="4059936"/>
          </a:xfrm>
          <a:prstGeom prst="roundRect">
            <a:avLst>
              <a:gd name="adj" fmla="val 2703"/>
            </a:avLst>
          </a:prstGeom>
          <a:solidFill>
            <a:srgbClr val="111C2E"/>
          </a:solidFill>
          <a:ln w="12700">
            <a:solidFill>
              <a:srgbClr val="1F6FEB"/>
            </a:solidFill>
            <a:prstDash val="solid"/>
          </a:ln>
          <a:effectLst>
            <a:outerShdw sx="100000" sy="100000" kx="0" ky="0" algn="bl" rotWithShape="0" blurRad="152400" dist="50800" dir="5400000">
              <a:srgbClr val="000000">
                <a:alpha val="45000"/>
              </a:srgbClr>
            </a:outerShdw>
          </a:effectLst>
        </p:spPr>
      </p:sp>
      <p:pic>
        <p:nvPicPr>
          <p:cNvPr id="13" name="Image 0" descr="/Users/saumya_kumar/Desktop/hackathon/docs/assets/veriswe-tui.png">    </p:cNvPr>
          <p:cNvPicPr>
            <a:picLocks noChangeAspect="1"/>
          </p:cNvPicPr>
          <p:nvPr/>
        </p:nvPicPr>
        <p:blipFill>
          <a:blip r:embed="rId1"/>
          <a:srcRect l="0" r="0" t="0" b="0"/>
          <a:stretch/>
        </p:blipFill>
        <p:spPr>
          <a:xfrm>
            <a:off x="6446520" y="960120"/>
            <a:ext cx="5166360" cy="3749040"/>
          </a:xfrm>
          <a:prstGeom prst="rect">
            <a:avLst/>
          </a:prstGeom>
        </p:spPr>
      </p:pic>
      <p:sp>
        <p:nvSpPr>
          <p:cNvPr id="14" name="Text 11"/>
          <p:cNvSpPr txBox="1"/>
          <p:nvPr/>
        </p:nvSpPr>
        <p:spPr>
          <a:xfrm>
            <a:off x="6355080" y="5029200"/>
            <a:ext cx="5349240" cy="457200"/>
          </a:xfrm>
          <a:prstGeom prst="rect">
            <a:avLst/>
          </a:prstGeom>
          <a:noFill/>
          <a:ln/>
        </p:spPr>
        <p:txBody>
          <a:bodyPr wrap="square" lIns="0" tIns="0" rIns="0" bIns="0" rtlCol="0" anchor="t"/>
          <a:lstStyle/>
          <a:p>
            <a:pPr algn="ctr" indent="0" marL="0">
              <a:buNone/>
            </a:pPr>
            <a:r>
              <a:rPr lang="en-US" sz="1100" i="1" dirty="0">
                <a:solidFill>
                  <a:srgbClr val="8B949E"/>
                </a:solidFill>
                <a:latin typeface="Calibri" pitchFamily="34" charset="0"/>
                <a:ea typeface="Calibri" pitchFamily="34" charset="-122"/>
                <a:cs typeface="Calibri" pitchFamily="34" charset="-120"/>
              </a:rPr>
              <a:t>The live terminal dashboard: a run that failed, recovered, and was VERIFIED by the harness</a:t>
            </a:r>
            <a:endParaRPr lang="en-US" sz="1100" dirty="0"/>
          </a:p>
        </p:txBody>
      </p:sp>
      <p:sp>
        <p:nvSpPr>
          <p:cNvPr id="15" name="Text 12"/>
          <p:cNvSpPr txBox="1"/>
          <p:nvPr/>
        </p:nvSpPr>
        <p:spPr>
          <a:xfrm>
            <a:off x="548640" y="6309360"/>
            <a:ext cx="5486400" cy="320040"/>
          </a:xfrm>
          <a:prstGeom prst="rect">
            <a:avLst/>
          </a:prstGeom>
          <a:noFill/>
          <a:ln/>
        </p:spPr>
        <p:txBody>
          <a:bodyPr wrap="square" lIns="0" tIns="0" rIns="0" bIns="0" rtlCol="0" anchor="t"/>
          <a:lstStyle/>
          <a:p>
            <a:pPr indent="0" marL="0">
              <a:buNone/>
            </a:pPr>
            <a:r>
              <a:rPr lang="en-US" sz="1300" dirty="0">
                <a:solidFill>
                  <a:srgbClr val="8B949E"/>
                </a:solidFill>
                <a:latin typeface="Courier New" pitchFamily="34" charset="0"/>
                <a:ea typeface="Courier New" pitchFamily="34" charset="-122"/>
                <a:cs typeface="Courier New" pitchFamily="34" charset="-120"/>
              </a:rPr>
              <a:t>github.com/oksaumya/veriswe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Agents say “done”. Nobody checks.</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The biggest failure mode of coding agents is not bad code — it is unverified claims.</a:t>
            </a:r>
            <a:endParaRPr lang="en-US" sz="1600" dirty="0"/>
          </a:p>
        </p:txBody>
      </p:sp>
      <p:sp>
        <p:nvSpPr>
          <p:cNvPr id="4" name="Shape 2"/>
          <p:cNvSpPr/>
          <p:nvPr/>
        </p:nvSpPr>
        <p:spPr>
          <a:xfrm>
            <a:off x="548640" y="1828800"/>
            <a:ext cx="3520440" cy="3566160"/>
          </a:xfrm>
          <a:prstGeom prst="roundRect">
            <a:avLst>
              <a:gd name="adj" fmla="val 3117"/>
            </a:avLst>
          </a:prstGeom>
          <a:solidFill>
            <a:srgbClr val="111C2E"/>
          </a:solidFill>
          <a:ln w="12700">
            <a:solidFill>
              <a:srgbClr val="30363D"/>
            </a:solidFill>
            <a:prstDash val="solid"/>
          </a:ln>
        </p:spPr>
      </p:sp>
      <p:sp>
        <p:nvSpPr>
          <p:cNvPr id="5" name="Text 3"/>
          <p:cNvSpPr txBox="1"/>
          <p:nvPr/>
        </p:nvSpPr>
        <p:spPr>
          <a:xfrm>
            <a:off x="868680" y="2148840"/>
            <a:ext cx="2880360" cy="1097280"/>
          </a:xfrm>
          <a:prstGeom prst="rect">
            <a:avLst/>
          </a:prstGeom>
          <a:noFill/>
          <a:ln/>
        </p:spPr>
        <p:txBody>
          <a:bodyPr wrap="square" lIns="0" tIns="0" rIns="0" bIns="0" rtlCol="0" anchor="ctr"/>
          <a:lstStyle/>
          <a:p>
            <a:pPr indent="0" marL="0">
              <a:buNone/>
            </a:pPr>
            <a:r>
              <a:rPr lang="en-US" sz="5400" b="1" dirty="0">
                <a:solidFill>
                  <a:srgbClr val="FF6B81"/>
                </a:solidFill>
                <a:latin typeface="Arial" pitchFamily="34" charset="0"/>
                <a:ea typeface="Arial" pitchFamily="34" charset="-122"/>
                <a:cs typeface="Arial" pitchFamily="34" charset="-120"/>
              </a:rPr>
              <a:t>45–76%</a:t>
            </a:r>
            <a:endParaRPr lang="en-US" sz="5400" dirty="0"/>
          </a:p>
        </p:txBody>
      </p:sp>
      <p:sp>
        <p:nvSpPr>
          <p:cNvPr id="6" name="Text 4"/>
          <p:cNvSpPr txBox="1"/>
          <p:nvPr/>
        </p:nvSpPr>
        <p:spPr>
          <a:xfrm>
            <a:off x="868680" y="3337560"/>
            <a:ext cx="2880360" cy="1371600"/>
          </a:xfrm>
          <a:prstGeom prst="rect">
            <a:avLst/>
          </a:prstGeom>
          <a:noFill/>
          <a:ln/>
        </p:spPr>
        <p:txBody>
          <a:bodyPr wrap="square" lIns="0" tIns="0" rIns="0" bIns="0" rtlCol="0" anchor="t"/>
          <a:lstStyle/>
          <a:p>
            <a:pPr indent="0" marL="0">
              <a:buNone/>
            </a:pPr>
            <a:r>
              <a:rPr lang="en-US" sz="1700" dirty="0">
                <a:solidFill>
                  <a:srgbClr val="E6EDF3"/>
                </a:solidFill>
                <a:latin typeface="Calibri" pitchFamily="34" charset="0"/>
                <a:ea typeface="Calibri" pitchFamily="34" charset="-122"/>
                <a:cs typeface="Calibri" pitchFamily="34" charset="-120"/>
              </a:rPr>
              <a:t>of agent failures are false</a:t>
            </a:r>
            <a:endParaRPr lang="en-US" sz="1700" dirty="0"/>
          </a:p>
          <a:p>
            <a:pPr indent="0" marL="0">
              <a:buNone/>
            </a:pPr>
            <a:r>
              <a:rPr lang="en-US" sz="1700" dirty="0">
                <a:solidFill>
                  <a:srgbClr val="E6EDF3"/>
                </a:solidFill>
                <a:latin typeface="Calibri" pitchFamily="34" charset="0"/>
                <a:ea typeface="Calibri" pitchFamily="34" charset="-122"/>
                <a:cs typeface="Calibri" pitchFamily="34" charset="-120"/>
              </a:rPr>
              <a:t>“task complete” claims</a:t>
            </a:r>
            <a:endParaRPr lang="en-US" sz="1700" dirty="0"/>
          </a:p>
        </p:txBody>
      </p:sp>
      <p:sp>
        <p:nvSpPr>
          <p:cNvPr id="7" name="Text 5"/>
          <p:cNvSpPr txBox="1"/>
          <p:nvPr/>
        </p:nvSpPr>
        <p:spPr>
          <a:xfrm>
            <a:off x="868680" y="4846320"/>
            <a:ext cx="2880360" cy="365760"/>
          </a:xfrm>
          <a:prstGeom prst="rect">
            <a:avLst/>
          </a:prstGeom>
          <a:noFill/>
          <a:ln/>
        </p:spPr>
        <p:txBody>
          <a:bodyPr wrap="square" lIns="0" tIns="0" rIns="0" bIns="0" rtlCol="0" anchor="t"/>
          <a:lstStyle/>
          <a:p>
            <a:pPr indent="0" marL="0">
              <a:buNone/>
            </a:pPr>
            <a:r>
              <a:rPr lang="en-US" sz="1000" i="1" dirty="0">
                <a:solidFill>
                  <a:srgbClr val="8B949E"/>
                </a:solidFill>
                <a:latin typeface="Calibri" pitchFamily="34" charset="0"/>
                <a:ea typeface="Calibri" pitchFamily="34" charset="-122"/>
                <a:cs typeface="Calibri" pitchFamily="34" charset="-120"/>
              </a:rPr>
              <a:t>False-success study, arXiv 2606.09863</a:t>
            </a:r>
            <a:endParaRPr lang="en-US" sz="1000" dirty="0"/>
          </a:p>
        </p:txBody>
      </p:sp>
      <p:sp>
        <p:nvSpPr>
          <p:cNvPr id="8" name="Shape 6"/>
          <p:cNvSpPr/>
          <p:nvPr/>
        </p:nvSpPr>
        <p:spPr>
          <a:xfrm>
            <a:off x="4343400" y="1828800"/>
            <a:ext cx="3520440" cy="3566160"/>
          </a:xfrm>
          <a:prstGeom prst="roundRect">
            <a:avLst>
              <a:gd name="adj" fmla="val 3117"/>
            </a:avLst>
          </a:prstGeom>
          <a:solidFill>
            <a:srgbClr val="111C2E"/>
          </a:solidFill>
          <a:ln w="12700">
            <a:solidFill>
              <a:srgbClr val="30363D"/>
            </a:solidFill>
            <a:prstDash val="solid"/>
          </a:ln>
        </p:spPr>
      </p:sp>
      <p:sp>
        <p:nvSpPr>
          <p:cNvPr id="9" name="Text 7"/>
          <p:cNvSpPr txBox="1"/>
          <p:nvPr/>
        </p:nvSpPr>
        <p:spPr>
          <a:xfrm>
            <a:off x="4663440" y="2148840"/>
            <a:ext cx="2880360" cy="1097280"/>
          </a:xfrm>
          <a:prstGeom prst="rect">
            <a:avLst/>
          </a:prstGeom>
          <a:noFill/>
          <a:ln/>
        </p:spPr>
        <p:txBody>
          <a:bodyPr wrap="square" lIns="0" tIns="0" rIns="0" bIns="0" rtlCol="0" anchor="ctr"/>
          <a:lstStyle/>
          <a:p>
            <a:pPr indent="0" marL="0">
              <a:buNone/>
            </a:pPr>
            <a:r>
              <a:rPr lang="en-US" sz="5400" b="1" dirty="0">
                <a:solidFill>
                  <a:srgbClr val="3FB950"/>
                </a:solidFill>
                <a:latin typeface="Arial" pitchFamily="34" charset="0"/>
                <a:ea typeface="Arial" pitchFamily="34" charset="-122"/>
                <a:cs typeface="Arial" pitchFamily="34" charset="-120"/>
              </a:rPr>
              <a:t>+13.7 pp</a:t>
            </a:r>
            <a:endParaRPr lang="en-US" sz="5400" dirty="0"/>
          </a:p>
        </p:txBody>
      </p:sp>
      <p:sp>
        <p:nvSpPr>
          <p:cNvPr id="10" name="Text 8"/>
          <p:cNvSpPr txBox="1"/>
          <p:nvPr/>
        </p:nvSpPr>
        <p:spPr>
          <a:xfrm>
            <a:off x="4663440" y="3337560"/>
            <a:ext cx="2880360" cy="1371600"/>
          </a:xfrm>
          <a:prstGeom prst="rect">
            <a:avLst/>
          </a:prstGeom>
          <a:noFill/>
          <a:ln/>
        </p:spPr>
        <p:txBody>
          <a:bodyPr wrap="square" lIns="0" tIns="0" rIns="0" bIns="0" rtlCol="0" anchor="t"/>
          <a:lstStyle/>
          <a:p>
            <a:pPr indent="0" marL="0">
              <a:buNone/>
            </a:pPr>
            <a:r>
              <a:rPr lang="en-US" sz="1700" dirty="0">
                <a:solidFill>
                  <a:srgbClr val="E6EDF3"/>
                </a:solidFill>
                <a:latin typeface="Calibri" pitchFamily="34" charset="0"/>
                <a:ea typeface="Calibri" pitchFamily="34" charset="-122"/>
                <a:cs typeface="Calibri" pitchFamily="34" charset="-120"/>
              </a:rPr>
              <a:t>on Terminal-Bench 2 from harness changes alone — mainly a pre-completion verification step</a:t>
            </a:r>
            <a:endParaRPr lang="en-US" sz="1700" dirty="0"/>
          </a:p>
        </p:txBody>
      </p:sp>
      <p:sp>
        <p:nvSpPr>
          <p:cNvPr id="11" name="Text 9"/>
          <p:cNvSpPr txBox="1"/>
          <p:nvPr/>
        </p:nvSpPr>
        <p:spPr>
          <a:xfrm>
            <a:off x="4663440" y="4846320"/>
            <a:ext cx="2880360" cy="365760"/>
          </a:xfrm>
          <a:prstGeom prst="rect">
            <a:avLst/>
          </a:prstGeom>
          <a:noFill/>
          <a:ln/>
        </p:spPr>
        <p:txBody>
          <a:bodyPr wrap="square" lIns="0" tIns="0" rIns="0" bIns="0" rtlCol="0" anchor="t"/>
          <a:lstStyle/>
          <a:p>
            <a:pPr indent="0" marL="0">
              <a:buNone/>
            </a:pPr>
            <a:r>
              <a:rPr lang="en-US" sz="1000" i="1" dirty="0">
                <a:solidFill>
                  <a:srgbClr val="8B949E"/>
                </a:solidFill>
                <a:latin typeface="Calibri" pitchFamily="34" charset="0"/>
                <a:ea typeface="Calibri" pitchFamily="34" charset="-122"/>
                <a:cs typeface="Calibri" pitchFamily="34" charset="-120"/>
              </a:rPr>
              <a:t>LangChain harness engineering, 2026</a:t>
            </a:r>
            <a:endParaRPr lang="en-US" sz="1000" dirty="0"/>
          </a:p>
        </p:txBody>
      </p:sp>
      <p:sp>
        <p:nvSpPr>
          <p:cNvPr id="12" name="Shape 10"/>
          <p:cNvSpPr/>
          <p:nvPr/>
        </p:nvSpPr>
        <p:spPr>
          <a:xfrm>
            <a:off x="8138160" y="1828800"/>
            <a:ext cx="3520440" cy="3566160"/>
          </a:xfrm>
          <a:prstGeom prst="roundRect">
            <a:avLst>
              <a:gd name="adj" fmla="val 3117"/>
            </a:avLst>
          </a:prstGeom>
          <a:solidFill>
            <a:srgbClr val="111C2E"/>
          </a:solidFill>
          <a:ln w="12700">
            <a:solidFill>
              <a:srgbClr val="30363D"/>
            </a:solidFill>
            <a:prstDash val="solid"/>
          </a:ln>
        </p:spPr>
      </p:sp>
      <p:sp>
        <p:nvSpPr>
          <p:cNvPr id="13" name="Text 11"/>
          <p:cNvSpPr txBox="1"/>
          <p:nvPr/>
        </p:nvSpPr>
        <p:spPr>
          <a:xfrm>
            <a:off x="8458200" y="2148840"/>
            <a:ext cx="2880360" cy="1097280"/>
          </a:xfrm>
          <a:prstGeom prst="rect">
            <a:avLst/>
          </a:prstGeom>
          <a:noFill/>
          <a:ln/>
        </p:spPr>
        <p:txBody>
          <a:bodyPr wrap="square" lIns="0" tIns="0" rIns="0" bIns="0" rtlCol="0" anchor="ctr"/>
          <a:lstStyle/>
          <a:p>
            <a:pPr indent="0" marL="0">
              <a:buNone/>
            </a:pPr>
            <a:r>
              <a:rPr lang="en-US" sz="5400" b="1" dirty="0">
                <a:solidFill>
                  <a:srgbClr val="F0B429"/>
                </a:solidFill>
                <a:latin typeface="Arial" pitchFamily="34" charset="0"/>
                <a:ea typeface="Arial" pitchFamily="34" charset="-122"/>
                <a:cs typeface="Arial" pitchFamily="34" charset="-120"/>
              </a:rPr>
              <a:t>40×</a:t>
            </a:r>
            <a:endParaRPr lang="en-US" sz="5400" dirty="0"/>
          </a:p>
        </p:txBody>
      </p:sp>
      <p:sp>
        <p:nvSpPr>
          <p:cNvPr id="14" name="Text 12"/>
          <p:cNvSpPr txBox="1"/>
          <p:nvPr/>
        </p:nvSpPr>
        <p:spPr>
          <a:xfrm>
            <a:off x="8458200" y="3337560"/>
            <a:ext cx="2880360" cy="1371600"/>
          </a:xfrm>
          <a:prstGeom prst="rect">
            <a:avLst/>
          </a:prstGeom>
          <a:noFill/>
          <a:ln/>
        </p:spPr>
        <p:txBody>
          <a:bodyPr wrap="square" lIns="0" tIns="0" rIns="0" bIns="0" rtlCol="0" anchor="t"/>
          <a:lstStyle/>
          <a:p>
            <a:pPr indent="0" marL="0">
              <a:buNone/>
            </a:pPr>
            <a:r>
              <a:rPr lang="en-US" sz="1700" dirty="0">
                <a:solidFill>
                  <a:srgbClr val="E6EDF3"/>
                </a:solidFill>
                <a:latin typeface="Calibri" pitchFamily="34" charset="0"/>
                <a:ea typeface="Calibri" pitchFamily="34" charset="-122"/>
                <a:cs typeface="Calibri" pitchFamily="34" charset="-120"/>
              </a:rPr>
              <a:t>the gap in tokens per solved task between harnesses on the same model (up to)</a:t>
            </a:r>
            <a:endParaRPr lang="en-US" sz="1700" dirty="0"/>
          </a:p>
        </p:txBody>
      </p:sp>
      <p:sp>
        <p:nvSpPr>
          <p:cNvPr id="15" name="Text 13"/>
          <p:cNvSpPr txBox="1"/>
          <p:nvPr/>
        </p:nvSpPr>
        <p:spPr>
          <a:xfrm>
            <a:off x="8458200" y="4846320"/>
            <a:ext cx="2880360" cy="365760"/>
          </a:xfrm>
          <a:prstGeom prst="rect">
            <a:avLst/>
          </a:prstGeom>
          <a:noFill/>
          <a:ln/>
        </p:spPr>
        <p:txBody>
          <a:bodyPr wrap="square" lIns="0" tIns="0" rIns="0" bIns="0" rtlCol="0" anchor="t"/>
          <a:lstStyle/>
          <a:p>
            <a:pPr indent="0" marL="0">
              <a:buNone/>
            </a:pPr>
            <a:r>
              <a:rPr lang="en-US" sz="1000" i="1" dirty="0">
                <a:solidFill>
                  <a:srgbClr val="8B949E"/>
                </a:solidFill>
                <a:latin typeface="Calibri" pitchFamily="34" charset="0"/>
                <a:ea typeface="Calibri" pitchFamily="34" charset="-122"/>
                <a:cs typeface="Calibri" pitchFamily="34" charset="-120"/>
              </a:rPr>
              <a:t>“The Scaffold Effect”, arXiv 2607.22585</a:t>
            </a:r>
            <a:endParaRPr lang="en-US" sz="1000" dirty="0"/>
          </a:p>
        </p:txBody>
      </p:sp>
      <p:sp>
        <p:nvSpPr>
          <p:cNvPr id="16" name="Text 14"/>
          <p:cNvSpPr txBox="1"/>
          <p:nvPr/>
        </p:nvSpPr>
        <p:spPr>
          <a:xfrm>
            <a:off x="548640" y="5715000"/>
            <a:ext cx="10972800" cy="457200"/>
          </a:xfrm>
          <a:prstGeom prst="rect">
            <a:avLst/>
          </a:prstGeom>
          <a:noFill/>
          <a:ln/>
        </p:spPr>
        <p:txBody>
          <a:bodyPr wrap="square" lIns="0" tIns="0" rIns="0" bIns="0" rtlCol="0" anchor="t"/>
          <a:lstStyle/>
          <a:p>
            <a:pPr indent="0" marL="0">
              <a:buNone/>
            </a:pPr>
            <a:r>
              <a:rPr lang="en-US" sz="1700" b="1" dirty="0">
                <a:solidFill>
                  <a:srgbClr val="79C0FF"/>
                </a:solidFill>
                <a:latin typeface="Calibri" pitchFamily="34" charset="0"/>
                <a:ea typeface="Calibri" pitchFamily="34" charset="-122"/>
                <a:cs typeface="Calibri" pitchFamily="34" charset="-120"/>
              </a:rPr>
              <a:t>→  Correctness, evidence and efficiency are decided by the harness — so that is where we invested.</a:t>
            </a:r>
            <a:endParaRPr lang="en-US" sz="1700" dirty="0"/>
          </a:p>
        </p:txBody>
      </p:sp>
      <p:sp>
        <p:nvSpPr>
          <p:cNvPr id="17" name="Text 15"/>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18" name="Text 16"/>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model proposes. The harness decides.</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A single disciplined loop — with an independent verification gate at the end.</a:t>
            </a:r>
            <a:endParaRPr lang="en-US" sz="1600" dirty="0"/>
          </a:p>
        </p:txBody>
      </p:sp>
      <p:sp>
        <p:nvSpPr>
          <p:cNvPr id="4" name="Shape 2"/>
          <p:cNvSpPr/>
          <p:nvPr/>
        </p:nvSpPr>
        <p:spPr>
          <a:xfrm>
            <a:off x="548640" y="1920240"/>
            <a:ext cx="1691640" cy="2148840"/>
          </a:xfrm>
          <a:prstGeom prst="roundRect">
            <a:avLst>
              <a:gd name="adj" fmla="val 6486"/>
            </a:avLst>
          </a:prstGeom>
          <a:solidFill>
            <a:srgbClr val="111C2E"/>
          </a:solidFill>
          <a:ln w="12700">
            <a:solidFill>
              <a:srgbClr val="58A6FF"/>
            </a:solidFill>
            <a:prstDash val="solid"/>
          </a:ln>
        </p:spPr>
      </p:sp>
      <p:sp>
        <p:nvSpPr>
          <p:cNvPr id="5" name="Shape 3"/>
          <p:cNvSpPr/>
          <p:nvPr/>
        </p:nvSpPr>
        <p:spPr>
          <a:xfrm>
            <a:off x="1074420" y="2148840"/>
            <a:ext cx="640080" cy="640080"/>
          </a:xfrm>
          <a:prstGeom prst="roundRect">
            <a:avLst>
              <a:gd name="adj" fmla="val 14286"/>
            </a:avLst>
          </a:prstGeom>
          <a:solidFill>
            <a:srgbClr val="58A6FF">
              <a:alpha val="18000"/>
            </a:srgbClr>
          </a:solidFill>
          <a:ln w="12700">
            <a:solidFill>
              <a:srgbClr val="58A6FF"/>
            </a:solidFill>
            <a:prstDash val="solid"/>
          </a:ln>
        </p:spPr>
      </p:sp>
      <p:pic>
        <p:nvPicPr>
          <p:cNvPr id="6" name="Image 0" descr="preencoded.png">    </p:cNvPr>
          <p:cNvPicPr>
            <a:picLocks noChangeAspect="1"/>
          </p:cNvPicPr>
          <p:nvPr/>
        </p:nvPicPr>
        <p:blipFill>
          <a:blip r:embed="rId1"/>
          <a:stretch>
            <a:fillRect/>
          </a:stretch>
        </p:blipFill>
        <p:spPr>
          <a:xfrm>
            <a:off x="1215238" y="2289658"/>
            <a:ext cx="358445" cy="358445"/>
          </a:xfrm>
          <a:prstGeom prst="rect">
            <a:avLst/>
          </a:prstGeom>
        </p:spPr>
      </p:pic>
      <p:sp>
        <p:nvSpPr>
          <p:cNvPr id="7" name="Text 4"/>
          <p:cNvSpPr txBox="1"/>
          <p:nvPr/>
        </p:nvSpPr>
        <p:spPr>
          <a:xfrm>
            <a:off x="548640" y="2926080"/>
            <a:ext cx="1691640" cy="365760"/>
          </a:xfrm>
          <a:prstGeom prst="rect">
            <a:avLst/>
          </a:prstGeom>
          <a:noFill/>
          <a:ln/>
        </p:spPr>
        <p:txBody>
          <a:bodyPr wrap="square" lIns="0" tIns="0" rIns="0" bIns="0" rtlCol="0" anchor="t"/>
          <a:lstStyle/>
          <a:p>
            <a:pPr algn="ctr" indent="0" marL="0">
              <a:buNone/>
            </a:pPr>
            <a:r>
              <a:rPr lang="en-US" sz="1600" b="1" dirty="0">
                <a:solidFill>
                  <a:srgbClr val="58A6FF"/>
                </a:solidFill>
                <a:latin typeface="Arial" pitchFamily="34" charset="0"/>
                <a:ea typeface="Arial" pitchFamily="34" charset="-122"/>
                <a:cs typeface="Arial" pitchFamily="34" charset="-120"/>
              </a:rPr>
              <a:t>TASK</a:t>
            </a:r>
            <a:endParaRPr lang="en-US" sz="1600" dirty="0"/>
          </a:p>
        </p:txBody>
      </p:sp>
      <p:sp>
        <p:nvSpPr>
          <p:cNvPr id="8" name="Text 5"/>
          <p:cNvSpPr txBox="1"/>
          <p:nvPr/>
        </p:nvSpPr>
        <p:spPr>
          <a:xfrm>
            <a:off x="685800" y="3291840"/>
            <a:ext cx="1417320" cy="685800"/>
          </a:xfrm>
          <a:prstGeom prst="rect">
            <a:avLst/>
          </a:prstGeom>
          <a:noFill/>
          <a:ln/>
        </p:spPr>
        <p:txBody>
          <a:bodyPr wrap="square" lIns="0" tIns="0" rIns="0" bIns="0" rtlCol="0" anchor="t"/>
          <a:lstStyle/>
          <a:p>
            <a:pPr algn="ctr" indent="0" marL="0">
              <a:buNone/>
            </a:pPr>
            <a:r>
              <a:rPr lang="en-US" sz="1200" dirty="0">
                <a:solidFill>
                  <a:srgbClr val="8B949E"/>
                </a:solidFill>
                <a:latin typeface="Calibri" pitchFamily="34" charset="0"/>
                <a:ea typeface="Calibri" pitchFamily="34" charset="-122"/>
                <a:cs typeface="Calibri" pitchFamily="34" charset="-120"/>
              </a:rPr>
              <a:t>issue URL · text · task</a:t>
            </a:r>
            <a:endParaRPr lang="en-US" sz="1200" dirty="0"/>
          </a:p>
        </p:txBody>
      </p:sp>
      <p:sp>
        <p:nvSpPr>
          <p:cNvPr id="9" name="Text 6"/>
          <p:cNvSpPr txBox="1"/>
          <p:nvPr/>
        </p:nvSpPr>
        <p:spPr>
          <a:xfrm>
            <a:off x="2221992" y="2697480"/>
            <a:ext cx="237744" cy="457200"/>
          </a:xfrm>
          <a:prstGeom prst="rect">
            <a:avLst/>
          </a:prstGeom>
          <a:noFill/>
          <a:ln/>
        </p:spPr>
        <p:txBody>
          <a:bodyPr wrap="square" lIns="0" tIns="0" rIns="0" bIns="0" rtlCol="0" anchor="t"/>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2441448" y="1920240"/>
            <a:ext cx="1691640" cy="2148840"/>
          </a:xfrm>
          <a:prstGeom prst="roundRect">
            <a:avLst>
              <a:gd name="adj" fmla="val 6486"/>
            </a:avLst>
          </a:prstGeom>
          <a:solidFill>
            <a:srgbClr val="111C2E"/>
          </a:solidFill>
          <a:ln w="12700">
            <a:solidFill>
              <a:srgbClr val="58A6FF"/>
            </a:solidFill>
            <a:prstDash val="solid"/>
          </a:ln>
        </p:spPr>
      </p:sp>
      <p:sp>
        <p:nvSpPr>
          <p:cNvPr id="11" name="Shape 8"/>
          <p:cNvSpPr/>
          <p:nvPr/>
        </p:nvSpPr>
        <p:spPr>
          <a:xfrm>
            <a:off x="2967228" y="2148840"/>
            <a:ext cx="640080" cy="640080"/>
          </a:xfrm>
          <a:prstGeom prst="roundRect">
            <a:avLst>
              <a:gd name="adj" fmla="val 14286"/>
            </a:avLst>
          </a:prstGeom>
          <a:solidFill>
            <a:srgbClr val="58A6FF">
              <a:alpha val="18000"/>
            </a:srgbClr>
          </a:solidFill>
          <a:ln w="12700">
            <a:solidFill>
              <a:srgbClr val="58A6FF"/>
            </a:solidFill>
            <a:prstDash val="solid"/>
          </a:ln>
        </p:spPr>
      </p:sp>
      <p:pic>
        <p:nvPicPr>
          <p:cNvPr id="12" name="Image 1" descr="preencoded.png">    </p:cNvPr>
          <p:cNvPicPr>
            <a:picLocks noChangeAspect="1"/>
          </p:cNvPicPr>
          <p:nvPr/>
        </p:nvPicPr>
        <p:blipFill>
          <a:blip r:embed="rId2"/>
          <a:stretch>
            <a:fillRect/>
          </a:stretch>
        </p:blipFill>
        <p:spPr>
          <a:xfrm>
            <a:off x="3108046" y="2289658"/>
            <a:ext cx="358445" cy="358445"/>
          </a:xfrm>
          <a:prstGeom prst="rect">
            <a:avLst/>
          </a:prstGeom>
        </p:spPr>
      </p:pic>
      <p:sp>
        <p:nvSpPr>
          <p:cNvPr id="13" name="Text 9"/>
          <p:cNvSpPr txBox="1"/>
          <p:nvPr/>
        </p:nvSpPr>
        <p:spPr>
          <a:xfrm>
            <a:off x="2441448" y="2926080"/>
            <a:ext cx="1691640" cy="365760"/>
          </a:xfrm>
          <a:prstGeom prst="rect">
            <a:avLst/>
          </a:prstGeom>
          <a:noFill/>
          <a:ln/>
        </p:spPr>
        <p:txBody>
          <a:bodyPr wrap="square" lIns="0" tIns="0" rIns="0" bIns="0" rtlCol="0" anchor="t"/>
          <a:lstStyle/>
          <a:p>
            <a:pPr algn="ctr" indent="0" marL="0">
              <a:buNone/>
            </a:pPr>
            <a:r>
              <a:rPr lang="en-US" sz="1600" b="1" dirty="0">
                <a:solidFill>
                  <a:srgbClr val="58A6FF"/>
                </a:solidFill>
                <a:latin typeface="Arial" pitchFamily="34" charset="0"/>
                <a:ea typeface="Arial" pitchFamily="34" charset="-122"/>
                <a:cs typeface="Arial" pitchFamily="34" charset="-120"/>
              </a:rPr>
              <a:t>EXPLORE</a:t>
            </a:r>
            <a:endParaRPr lang="en-US" sz="1600" dirty="0"/>
          </a:p>
        </p:txBody>
      </p:sp>
      <p:sp>
        <p:nvSpPr>
          <p:cNvPr id="14" name="Text 10"/>
          <p:cNvSpPr txBox="1"/>
          <p:nvPr/>
        </p:nvSpPr>
        <p:spPr>
          <a:xfrm>
            <a:off x="2578608" y="3291840"/>
            <a:ext cx="1417320" cy="685800"/>
          </a:xfrm>
          <a:prstGeom prst="rect">
            <a:avLst/>
          </a:prstGeom>
          <a:noFill/>
          <a:ln/>
        </p:spPr>
        <p:txBody>
          <a:bodyPr wrap="square" lIns="0" tIns="0" rIns="0" bIns="0" rtlCol="0" anchor="t"/>
          <a:lstStyle/>
          <a:p>
            <a:pPr algn="ctr" indent="0" marL="0">
              <a:buNone/>
            </a:pPr>
            <a:r>
              <a:rPr lang="en-US" sz="1200" dirty="0">
                <a:solidFill>
                  <a:srgbClr val="8B949E"/>
                </a:solidFill>
                <a:latin typeface="Calibri" pitchFamily="34" charset="0"/>
                <a:ea typeface="Calibri" pitchFamily="34" charset="-122"/>
                <a:cs typeface="Calibri" pitchFamily="34" charset="-120"/>
              </a:rPr>
              <a:t>search · view (100-line windows)</a:t>
            </a:r>
            <a:endParaRPr lang="en-US" sz="1200" dirty="0"/>
          </a:p>
        </p:txBody>
      </p:sp>
      <p:sp>
        <p:nvSpPr>
          <p:cNvPr id="15" name="Text 11"/>
          <p:cNvSpPr txBox="1"/>
          <p:nvPr/>
        </p:nvSpPr>
        <p:spPr>
          <a:xfrm>
            <a:off x="4114800" y="2697480"/>
            <a:ext cx="237744" cy="457200"/>
          </a:xfrm>
          <a:prstGeom prst="rect">
            <a:avLst/>
          </a:prstGeom>
          <a:noFill/>
          <a:ln/>
        </p:spPr>
        <p:txBody>
          <a:bodyPr wrap="square" lIns="0" tIns="0" rIns="0" bIns="0" rtlCol="0" anchor="t"/>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4334256" y="1920240"/>
            <a:ext cx="1691640" cy="2148840"/>
          </a:xfrm>
          <a:prstGeom prst="roundRect">
            <a:avLst>
              <a:gd name="adj" fmla="val 6486"/>
            </a:avLst>
          </a:prstGeom>
          <a:solidFill>
            <a:srgbClr val="111C2E"/>
          </a:solidFill>
          <a:ln w="12700">
            <a:solidFill>
              <a:srgbClr val="F0B429"/>
            </a:solidFill>
            <a:prstDash val="solid"/>
          </a:ln>
        </p:spPr>
      </p:sp>
      <p:sp>
        <p:nvSpPr>
          <p:cNvPr id="17" name="Shape 13"/>
          <p:cNvSpPr/>
          <p:nvPr/>
        </p:nvSpPr>
        <p:spPr>
          <a:xfrm>
            <a:off x="4860036" y="2148840"/>
            <a:ext cx="640080" cy="640080"/>
          </a:xfrm>
          <a:prstGeom prst="roundRect">
            <a:avLst>
              <a:gd name="adj" fmla="val 14286"/>
            </a:avLst>
          </a:prstGeom>
          <a:solidFill>
            <a:srgbClr val="F0B429">
              <a:alpha val="18000"/>
            </a:srgbClr>
          </a:solidFill>
          <a:ln w="12700">
            <a:solidFill>
              <a:srgbClr val="F0B429"/>
            </a:solidFill>
            <a:prstDash val="solid"/>
          </a:ln>
        </p:spPr>
      </p:sp>
      <p:pic>
        <p:nvPicPr>
          <p:cNvPr id="18" name="Image 2" descr="preencoded.png">    </p:cNvPr>
          <p:cNvPicPr>
            <a:picLocks noChangeAspect="1"/>
          </p:cNvPicPr>
          <p:nvPr/>
        </p:nvPicPr>
        <p:blipFill>
          <a:blip r:embed="rId3"/>
          <a:stretch>
            <a:fillRect/>
          </a:stretch>
        </p:blipFill>
        <p:spPr>
          <a:xfrm>
            <a:off x="5000854" y="2289658"/>
            <a:ext cx="358445" cy="358445"/>
          </a:xfrm>
          <a:prstGeom prst="rect">
            <a:avLst/>
          </a:prstGeom>
        </p:spPr>
      </p:pic>
      <p:sp>
        <p:nvSpPr>
          <p:cNvPr id="19" name="Text 14"/>
          <p:cNvSpPr txBox="1"/>
          <p:nvPr/>
        </p:nvSpPr>
        <p:spPr>
          <a:xfrm>
            <a:off x="4334256" y="2926080"/>
            <a:ext cx="1691640" cy="365760"/>
          </a:xfrm>
          <a:prstGeom prst="rect">
            <a:avLst/>
          </a:prstGeom>
          <a:noFill/>
          <a:ln/>
        </p:spPr>
        <p:txBody>
          <a:bodyPr wrap="square" lIns="0" tIns="0" rIns="0" bIns="0" rtlCol="0" anchor="t"/>
          <a:lstStyle/>
          <a:p>
            <a:pPr algn="ctr" indent="0" marL="0">
              <a:buNone/>
            </a:pPr>
            <a:r>
              <a:rPr lang="en-US" sz="1600" b="1" dirty="0">
                <a:solidFill>
                  <a:srgbClr val="F0B429"/>
                </a:solidFill>
                <a:latin typeface="Arial" pitchFamily="34" charset="0"/>
                <a:ea typeface="Arial" pitchFamily="34" charset="-122"/>
                <a:cs typeface="Arial" pitchFamily="34" charset="-120"/>
              </a:rPr>
              <a:t>REPRODUCE</a:t>
            </a:r>
            <a:endParaRPr lang="en-US" sz="1600" dirty="0"/>
          </a:p>
        </p:txBody>
      </p:sp>
      <p:sp>
        <p:nvSpPr>
          <p:cNvPr id="20" name="Text 15"/>
          <p:cNvSpPr txBox="1"/>
          <p:nvPr/>
        </p:nvSpPr>
        <p:spPr>
          <a:xfrm>
            <a:off x="4471416" y="3291840"/>
            <a:ext cx="1417320" cy="685800"/>
          </a:xfrm>
          <a:prstGeom prst="rect">
            <a:avLst/>
          </a:prstGeom>
          <a:noFill/>
          <a:ln/>
        </p:spPr>
        <p:txBody>
          <a:bodyPr wrap="square" lIns="0" tIns="0" rIns="0" bIns="0" rtlCol="0" anchor="t"/>
          <a:lstStyle/>
          <a:p>
            <a:pPr algn="ctr" indent="0" marL="0">
              <a:buNone/>
            </a:pPr>
            <a:r>
              <a:rPr lang="en-US" sz="1200" dirty="0">
                <a:solidFill>
                  <a:srgbClr val="8B949E"/>
                </a:solidFill>
                <a:latin typeface="Calibri" pitchFamily="34" charset="0"/>
                <a:ea typeface="Calibri" pitchFamily="34" charset="-122"/>
                <a:cs typeface="Calibri" pitchFamily="34" charset="-120"/>
              </a:rPr>
              <a:t>evidence that fails first</a:t>
            </a:r>
            <a:endParaRPr lang="en-US" sz="1200" dirty="0"/>
          </a:p>
        </p:txBody>
      </p:sp>
      <p:sp>
        <p:nvSpPr>
          <p:cNvPr id="21" name="Text 16"/>
          <p:cNvSpPr txBox="1"/>
          <p:nvPr/>
        </p:nvSpPr>
        <p:spPr>
          <a:xfrm>
            <a:off x="6007608" y="2697480"/>
            <a:ext cx="237744" cy="457200"/>
          </a:xfrm>
          <a:prstGeom prst="rect">
            <a:avLst/>
          </a:prstGeom>
          <a:noFill/>
          <a:ln/>
        </p:spPr>
        <p:txBody>
          <a:bodyPr wrap="square" lIns="0" tIns="0" rIns="0" bIns="0" rtlCol="0" anchor="t"/>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22" name="Shape 17"/>
          <p:cNvSpPr/>
          <p:nvPr/>
        </p:nvSpPr>
        <p:spPr>
          <a:xfrm>
            <a:off x="6227064" y="1920240"/>
            <a:ext cx="1691640" cy="2148840"/>
          </a:xfrm>
          <a:prstGeom prst="roundRect">
            <a:avLst>
              <a:gd name="adj" fmla="val 6486"/>
            </a:avLst>
          </a:prstGeom>
          <a:solidFill>
            <a:srgbClr val="111C2E"/>
          </a:solidFill>
          <a:ln w="12700">
            <a:solidFill>
              <a:srgbClr val="58A6FF"/>
            </a:solidFill>
            <a:prstDash val="solid"/>
          </a:ln>
        </p:spPr>
      </p:sp>
      <p:sp>
        <p:nvSpPr>
          <p:cNvPr id="23" name="Shape 18"/>
          <p:cNvSpPr/>
          <p:nvPr/>
        </p:nvSpPr>
        <p:spPr>
          <a:xfrm>
            <a:off x="6752844" y="2148840"/>
            <a:ext cx="640080" cy="640080"/>
          </a:xfrm>
          <a:prstGeom prst="roundRect">
            <a:avLst>
              <a:gd name="adj" fmla="val 14286"/>
            </a:avLst>
          </a:prstGeom>
          <a:solidFill>
            <a:srgbClr val="58A6FF">
              <a:alpha val="18000"/>
            </a:srgbClr>
          </a:solidFill>
          <a:ln w="12700">
            <a:solidFill>
              <a:srgbClr val="58A6FF"/>
            </a:solidFill>
            <a:prstDash val="solid"/>
          </a:ln>
        </p:spPr>
      </p:sp>
      <p:pic>
        <p:nvPicPr>
          <p:cNvPr id="24" name="Image 3" descr="preencoded.png">    </p:cNvPr>
          <p:cNvPicPr>
            <a:picLocks noChangeAspect="1"/>
          </p:cNvPicPr>
          <p:nvPr/>
        </p:nvPicPr>
        <p:blipFill>
          <a:blip r:embed="rId4"/>
          <a:stretch>
            <a:fillRect/>
          </a:stretch>
        </p:blipFill>
        <p:spPr>
          <a:xfrm>
            <a:off x="6893662" y="2289658"/>
            <a:ext cx="358445" cy="358445"/>
          </a:xfrm>
          <a:prstGeom prst="rect">
            <a:avLst/>
          </a:prstGeom>
        </p:spPr>
      </p:pic>
      <p:sp>
        <p:nvSpPr>
          <p:cNvPr id="25" name="Text 19"/>
          <p:cNvSpPr txBox="1"/>
          <p:nvPr/>
        </p:nvSpPr>
        <p:spPr>
          <a:xfrm>
            <a:off x="6227064" y="2926080"/>
            <a:ext cx="1691640" cy="365760"/>
          </a:xfrm>
          <a:prstGeom prst="rect">
            <a:avLst/>
          </a:prstGeom>
          <a:noFill/>
          <a:ln/>
        </p:spPr>
        <p:txBody>
          <a:bodyPr wrap="square" lIns="0" tIns="0" rIns="0" bIns="0" rtlCol="0" anchor="t"/>
          <a:lstStyle/>
          <a:p>
            <a:pPr algn="ctr" indent="0" marL="0">
              <a:buNone/>
            </a:pPr>
            <a:r>
              <a:rPr lang="en-US" sz="1600" b="1" dirty="0">
                <a:solidFill>
                  <a:srgbClr val="58A6FF"/>
                </a:solidFill>
                <a:latin typeface="Arial" pitchFamily="34" charset="0"/>
                <a:ea typeface="Arial" pitchFamily="34" charset="-122"/>
                <a:cs typeface="Arial" pitchFamily="34" charset="-120"/>
              </a:rPr>
              <a:t>FIX</a:t>
            </a:r>
            <a:endParaRPr lang="en-US" sz="1600" dirty="0"/>
          </a:p>
        </p:txBody>
      </p:sp>
      <p:sp>
        <p:nvSpPr>
          <p:cNvPr id="26" name="Text 20"/>
          <p:cNvSpPr txBox="1"/>
          <p:nvPr/>
        </p:nvSpPr>
        <p:spPr>
          <a:xfrm>
            <a:off x="6364224" y="3291840"/>
            <a:ext cx="1417320" cy="685800"/>
          </a:xfrm>
          <a:prstGeom prst="rect">
            <a:avLst/>
          </a:prstGeom>
          <a:noFill/>
          <a:ln/>
        </p:spPr>
        <p:txBody>
          <a:bodyPr wrap="square" lIns="0" tIns="0" rIns="0" bIns="0" rtlCol="0" anchor="t"/>
          <a:lstStyle/>
          <a:p>
            <a:pPr algn="ctr" indent="0" marL="0">
              <a:buNone/>
            </a:pPr>
            <a:r>
              <a:rPr lang="en-US" sz="1200" dirty="0">
                <a:solidFill>
                  <a:srgbClr val="8B949E"/>
                </a:solidFill>
                <a:latin typeface="Calibri" pitchFamily="34" charset="0"/>
                <a:ea typeface="Calibri" pitchFamily="34" charset="-122"/>
                <a:cs typeface="Calibri" pitchFamily="34" charset="-120"/>
              </a:rPr>
              <a:t>lint-gated str_replace</a:t>
            </a:r>
            <a:endParaRPr lang="en-US" sz="1200" dirty="0"/>
          </a:p>
        </p:txBody>
      </p:sp>
      <p:sp>
        <p:nvSpPr>
          <p:cNvPr id="27" name="Text 21"/>
          <p:cNvSpPr txBox="1"/>
          <p:nvPr/>
        </p:nvSpPr>
        <p:spPr>
          <a:xfrm>
            <a:off x="7900416" y="2697480"/>
            <a:ext cx="237744" cy="457200"/>
          </a:xfrm>
          <a:prstGeom prst="rect">
            <a:avLst/>
          </a:prstGeom>
          <a:noFill/>
          <a:ln/>
        </p:spPr>
        <p:txBody>
          <a:bodyPr wrap="square" lIns="0" tIns="0" rIns="0" bIns="0" rtlCol="0" anchor="t"/>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28" name="Shape 22"/>
          <p:cNvSpPr/>
          <p:nvPr/>
        </p:nvSpPr>
        <p:spPr>
          <a:xfrm>
            <a:off x="8119872" y="1920240"/>
            <a:ext cx="1691640" cy="2148840"/>
          </a:xfrm>
          <a:prstGeom prst="roundRect">
            <a:avLst>
              <a:gd name="adj" fmla="val 6486"/>
            </a:avLst>
          </a:prstGeom>
          <a:solidFill>
            <a:srgbClr val="12321F"/>
          </a:solidFill>
          <a:ln w="25400">
            <a:solidFill>
              <a:srgbClr val="3FB950"/>
            </a:solidFill>
            <a:prstDash val="solid"/>
          </a:ln>
        </p:spPr>
      </p:sp>
      <p:sp>
        <p:nvSpPr>
          <p:cNvPr id="29" name="Shape 23"/>
          <p:cNvSpPr/>
          <p:nvPr/>
        </p:nvSpPr>
        <p:spPr>
          <a:xfrm>
            <a:off x="8645652" y="2148840"/>
            <a:ext cx="640080" cy="640080"/>
          </a:xfrm>
          <a:prstGeom prst="roundRect">
            <a:avLst>
              <a:gd name="adj" fmla="val 14286"/>
            </a:avLst>
          </a:prstGeom>
          <a:solidFill>
            <a:srgbClr val="3FB950">
              <a:alpha val="18000"/>
            </a:srgbClr>
          </a:solidFill>
          <a:ln w="12700">
            <a:solidFill>
              <a:srgbClr val="3FB950"/>
            </a:solidFill>
            <a:prstDash val="solid"/>
          </a:ln>
        </p:spPr>
      </p:sp>
      <p:pic>
        <p:nvPicPr>
          <p:cNvPr id="30" name="Image 4" descr="preencoded.png">    </p:cNvPr>
          <p:cNvPicPr>
            <a:picLocks noChangeAspect="1"/>
          </p:cNvPicPr>
          <p:nvPr/>
        </p:nvPicPr>
        <p:blipFill>
          <a:blip r:embed="rId5"/>
          <a:stretch>
            <a:fillRect/>
          </a:stretch>
        </p:blipFill>
        <p:spPr>
          <a:xfrm>
            <a:off x="8786470" y="2289658"/>
            <a:ext cx="358445" cy="358445"/>
          </a:xfrm>
          <a:prstGeom prst="rect">
            <a:avLst/>
          </a:prstGeom>
        </p:spPr>
      </p:pic>
      <p:sp>
        <p:nvSpPr>
          <p:cNvPr id="31" name="Text 24"/>
          <p:cNvSpPr txBox="1"/>
          <p:nvPr/>
        </p:nvSpPr>
        <p:spPr>
          <a:xfrm>
            <a:off x="8119872" y="2926080"/>
            <a:ext cx="1691640" cy="365760"/>
          </a:xfrm>
          <a:prstGeom prst="rect">
            <a:avLst/>
          </a:prstGeom>
          <a:noFill/>
          <a:ln/>
        </p:spPr>
        <p:txBody>
          <a:bodyPr wrap="square" lIns="0" tIns="0" rIns="0" bIns="0" rtlCol="0" anchor="t"/>
          <a:lstStyle/>
          <a:p>
            <a:pPr algn="ctr" indent="0" marL="0">
              <a:buNone/>
            </a:pPr>
            <a:r>
              <a:rPr lang="en-US" sz="1600" b="1" dirty="0">
                <a:solidFill>
                  <a:srgbClr val="3FB950"/>
                </a:solidFill>
                <a:latin typeface="Arial" pitchFamily="34" charset="0"/>
                <a:ea typeface="Arial" pitchFamily="34" charset="-122"/>
                <a:cs typeface="Arial" pitchFamily="34" charset="-120"/>
              </a:rPr>
              <a:t>VERIFY</a:t>
            </a:r>
            <a:endParaRPr lang="en-US" sz="1600" dirty="0"/>
          </a:p>
        </p:txBody>
      </p:sp>
      <p:sp>
        <p:nvSpPr>
          <p:cNvPr id="32" name="Text 25"/>
          <p:cNvSpPr txBox="1"/>
          <p:nvPr/>
        </p:nvSpPr>
        <p:spPr>
          <a:xfrm>
            <a:off x="8257032" y="3291840"/>
            <a:ext cx="1417320" cy="685800"/>
          </a:xfrm>
          <a:prstGeom prst="rect">
            <a:avLst/>
          </a:prstGeom>
          <a:noFill/>
          <a:ln/>
        </p:spPr>
        <p:txBody>
          <a:bodyPr wrap="square" lIns="0" tIns="0" rIns="0" bIns="0" rtlCol="0" anchor="t"/>
          <a:lstStyle/>
          <a:p>
            <a:pPr algn="ctr" indent="0" marL="0">
              <a:buNone/>
            </a:pPr>
            <a:r>
              <a:rPr lang="en-US" sz="1200" dirty="0">
                <a:solidFill>
                  <a:srgbClr val="8B949E"/>
                </a:solidFill>
                <a:latin typeface="Calibri" pitchFamily="34" charset="0"/>
                <a:ea typeface="Calibri" pitchFamily="34" charset="-122"/>
                <a:cs typeface="Calibri" pitchFamily="34" charset="-120"/>
              </a:rPr>
              <a:t>harness re-checks independently</a:t>
            </a:r>
            <a:endParaRPr lang="en-US" sz="1200" dirty="0"/>
          </a:p>
        </p:txBody>
      </p:sp>
      <p:sp>
        <p:nvSpPr>
          <p:cNvPr id="33" name="Text 26"/>
          <p:cNvSpPr txBox="1"/>
          <p:nvPr/>
        </p:nvSpPr>
        <p:spPr>
          <a:xfrm>
            <a:off x="9793224" y="2697480"/>
            <a:ext cx="237744" cy="457200"/>
          </a:xfrm>
          <a:prstGeom prst="rect">
            <a:avLst/>
          </a:prstGeom>
          <a:noFill/>
          <a:ln/>
        </p:spPr>
        <p:txBody>
          <a:bodyPr wrap="square" lIns="0" tIns="0" rIns="0" bIns="0" rtlCol="0" anchor="t"/>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34" name="Shape 27"/>
          <p:cNvSpPr/>
          <p:nvPr/>
        </p:nvSpPr>
        <p:spPr>
          <a:xfrm>
            <a:off x="10012680" y="1920240"/>
            <a:ext cx="1691640" cy="2148840"/>
          </a:xfrm>
          <a:prstGeom prst="roundRect">
            <a:avLst>
              <a:gd name="adj" fmla="val 6486"/>
            </a:avLst>
          </a:prstGeom>
          <a:solidFill>
            <a:srgbClr val="111C2E"/>
          </a:solidFill>
          <a:ln w="12700">
            <a:solidFill>
              <a:srgbClr val="79C0FF"/>
            </a:solidFill>
            <a:prstDash val="solid"/>
          </a:ln>
        </p:spPr>
      </p:sp>
      <p:sp>
        <p:nvSpPr>
          <p:cNvPr id="35" name="Shape 28"/>
          <p:cNvSpPr/>
          <p:nvPr/>
        </p:nvSpPr>
        <p:spPr>
          <a:xfrm>
            <a:off x="10538460" y="2148840"/>
            <a:ext cx="640080" cy="640080"/>
          </a:xfrm>
          <a:prstGeom prst="roundRect">
            <a:avLst>
              <a:gd name="adj" fmla="val 14286"/>
            </a:avLst>
          </a:prstGeom>
          <a:solidFill>
            <a:srgbClr val="79C0FF">
              <a:alpha val="18000"/>
            </a:srgbClr>
          </a:solidFill>
          <a:ln w="12700">
            <a:solidFill>
              <a:srgbClr val="79C0FF"/>
            </a:solidFill>
            <a:prstDash val="solid"/>
          </a:ln>
        </p:spPr>
      </p:sp>
      <p:pic>
        <p:nvPicPr>
          <p:cNvPr id="36" name="Image 5" descr="preencoded.png">    </p:cNvPr>
          <p:cNvPicPr>
            <a:picLocks noChangeAspect="1"/>
          </p:cNvPicPr>
          <p:nvPr/>
        </p:nvPicPr>
        <p:blipFill>
          <a:blip r:embed="rId6"/>
          <a:stretch>
            <a:fillRect/>
          </a:stretch>
        </p:blipFill>
        <p:spPr>
          <a:xfrm>
            <a:off x="10679278" y="2289658"/>
            <a:ext cx="358445" cy="358445"/>
          </a:xfrm>
          <a:prstGeom prst="rect">
            <a:avLst/>
          </a:prstGeom>
        </p:spPr>
      </p:pic>
      <p:sp>
        <p:nvSpPr>
          <p:cNvPr id="37" name="Text 29"/>
          <p:cNvSpPr txBox="1"/>
          <p:nvPr/>
        </p:nvSpPr>
        <p:spPr>
          <a:xfrm>
            <a:off x="10012680" y="2926080"/>
            <a:ext cx="1691640" cy="365760"/>
          </a:xfrm>
          <a:prstGeom prst="rect">
            <a:avLst/>
          </a:prstGeom>
          <a:noFill/>
          <a:ln/>
        </p:spPr>
        <p:txBody>
          <a:bodyPr wrap="square" lIns="0" tIns="0" rIns="0" bIns="0" rtlCol="0" anchor="t"/>
          <a:lstStyle/>
          <a:p>
            <a:pPr algn="ctr" indent="0" marL="0">
              <a:buNone/>
            </a:pPr>
            <a:r>
              <a:rPr lang="en-US" sz="1600" b="1" dirty="0">
                <a:solidFill>
                  <a:srgbClr val="79C0FF"/>
                </a:solidFill>
                <a:latin typeface="Arial" pitchFamily="34" charset="0"/>
                <a:ea typeface="Arial" pitchFamily="34" charset="-122"/>
                <a:cs typeface="Arial" pitchFamily="34" charset="-120"/>
              </a:rPr>
              <a:t>REPORT</a:t>
            </a:r>
            <a:endParaRPr lang="en-US" sz="1600" dirty="0"/>
          </a:p>
        </p:txBody>
      </p:sp>
      <p:sp>
        <p:nvSpPr>
          <p:cNvPr id="38" name="Text 30"/>
          <p:cNvSpPr txBox="1"/>
          <p:nvPr/>
        </p:nvSpPr>
        <p:spPr>
          <a:xfrm>
            <a:off x="10149840" y="3291840"/>
            <a:ext cx="1417320" cy="685800"/>
          </a:xfrm>
          <a:prstGeom prst="rect">
            <a:avLst/>
          </a:prstGeom>
          <a:noFill/>
          <a:ln/>
        </p:spPr>
        <p:txBody>
          <a:bodyPr wrap="square" lIns="0" tIns="0" rIns="0" bIns="0" rtlCol="0" anchor="t"/>
          <a:lstStyle/>
          <a:p>
            <a:pPr algn="ctr" indent="0" marL="0">
              <a:buNone/>
            </a:pPr>
            <a:r>
              <a:rPr lang="en-US" sz="1200" dirty="0">
                <a:solidFill>
                  <a:srgbClr val="8B949E"/>
                </a:solidFill>
                <a:latin typeface="Calibri" pitchFamily="34" charset="0"/>
                <a:ea typeface="Calibri" pitchFamily="34" charset="-122"/>
                <a:cs typeface="Calibri" pitchFamily="34" charset="-120"/>
              </a:rPr>
              <a:t>patch · evidence · telemetry</a:t>
            </a:r>
            <a:endParaRPr lang="en-US" sz="1200" dirty="0"/>
          </a:p>
        </p:txBody>
      </p:sp>
      <p:sp>
        <p:nvSpPr>
          <p:cNvPr id="39" name="Text 31"/>
          <p:cNvSpPr txBox="1"/>
          <p:nvPr/>
        </p:nvSpPr>
        <p:spPr>
          <a:xfrm>
            <a:off x="548640" y="4224528"/>
            <a:ext cx="11064240" cy="411480"/>
          </a:xfrm>
          <a:prstGeom prst="rect">
            <a:avLst/>
          </a:prstGeom>
          <a:noFill/>
          <a:ln/>
        </p:spPr>
        <p:txBody>
          <a:bodyPr wrap="square" lIns="0" tIns="0" rIns="0" bIns="0" rtlCol="0" anchor="t"/>
          <a:lstStyle/>
          <a:p>
            <a:pPr indent="0" marL="0">
              <a:buNone/>
            </a:pPr>
            <a:r>
              <a:rPr lang="en-US" sz="1500" b="1" dirty="0">
                <a:solidFill>
                  <a:srgbClr val="FF6B81"/>
                </a:solidFill>
                <a:latin typeface="Calibri" pitchFamily="34" charset="0"/>
                <a:ea typeface="Calibri" pitchFamily="34" charset="-122"/>
                <a:cs typeface="Calibri" pitchFamily="34" charset="-120"/>
              </a:rPr>
              <a:t>↺  REJECTED → the gate’s logs go back to the agent, which recovers (undo, new strategy) — up to 3 rounds</a:t>
            </a:r>
            <a:endParaRPr lang="en-US" sz="1500" dirty="0"/>
          </a:p>
        </p:txBody>
      </p:sp>
      <p:sp>
        <p:nvSpPr>
          <p:cNvPr id="40" name="Shape 32"/>
          <p:cNvSpPr/>
          <p:nvPr/>
        </p:nvSpPr>
        <p:spPr>
          <a:xfrm>
            <a:off x="548640" y="4846320"/>
            <a:ext cx="5440680" cy="1325880"/>
          </a:xfrm>
          <a:prstGeom prst="roundRect">
            <a:avLst>
              <a:gd name="adj" fmla="val 8276"/>
            </a:avLst>
          </a:prstGeom>
          <a:solidFill>
            <a:srgbClr val="111C2E"/>
          </a:solidFill>
          <a:ln w="12700">
            <a:solidFill>
              <a:srgbClr val="30363D"/>
            </a:solidFill>
            <a:prstDash val="solid"/>
          </a:ln>
        </p:spPr>
      </p:sp>
      <p:sp>
        <p:nvSpPr>
          <p:cNvPr id="41" name="Shape 33"/>
          <p:cNvSpPr/>
          <p:nvPr/>
        </p:nvSpPr>
        <p:spPr>
          <a:xfrm>
            <a:off x="777240" y="5074920"/>
            <a:ext cx="548640" cy="548640"/>
          </a:xfrm>
          <a:prstGeom prst="roundRect">
            <a:avLst>
              <a:gd name="adj" fmla="val 16667"/>
            </a:avLst>
          </a:prstGeom>
          <a:solidFill>
            <a:srgbClr val="79C0FF">
              <a:alpha val="18000"/>
            </a:srgbClr>
          </a:solidFill>
          <a:ln w="12700">
            <a:solidFill>
              <a:srgbClr val="79C0FF"/>
            </a:solidFill>
            <a:prstDash val="solid"/>
          </a:ln>
        </p:spPr>
      </p:sp>
      <p:pic>
        <p:nvPicPr>
          <p:cNvPr id="42" name="Image 6" descr="preencoded.png">    </p:cNvPr>
          <p:cNvPicPr>
            <a:picLocks noChangeAspect="1"/>
          </p:cNvPicPr>
          <p:nvPr/>
        </p:nvPicPr>
        <p:blipFill>
          <a:blip r:embed="rId7"/>
          <a:stretch>
            <a:fillRect/>
          </a:stretch>
        </p:blipFill>
        <p:spPr>
          <a:xfrm>
            <a:off x="897941" y="5195621"/>
            <a:ext cx="307238" cy="307238"/>
          </a:xfrm>
          <a:prstGeom prst="rect">
            <a:avLst/>
          </a:prstGeom>
        </p:spPr>
      </p:pic>
      <p:sp>
        <p:nvSpPr>
          <p:cNvPr id="43" name="Text 34"/>
          <p:cNvSpPr txBox="1"/>
          <p:nvPr/>
        </p:nvSpPr>
        <p:spPr>
          <a:xfrm>
            <a:off x="1508760" y="5029200"/>
            <a:ext cx="4297680" cy="365760"/>
          </a:xfrm>
          <a:prstGeom prst="rect">
            <a:avLst/>
          </a:prstGeom>
          <a:noFill/>
          <a:ln/>
        </p:spPr>
        <p:txBody>
          <a:bodyPr wrap="square" lIns="0" tIns="0" rIns="0" bIns="0" rtlCol="0" anchor="t"/>
          <a:lstStyle/>
          <a:p>
            <a:pPr indent="0" marL="0">
              <a:buNone/>
            </a:pPr>
            <a:r>
              <a:rPr lang="en-US" sz="1700" b="1" dirty="0">
                <a:solidFill>
                  <a:srgbClr val="79C0FF"/>
                </a:solidFill>
                <a:latin typeface="Calibri" pitchFamily="34" charset="0"/>
                <a:ea typeface="Calibri" pitchFamily="34" charset="-122"/>
                <a:cs typeface="Calibri" pitchFamily="34" charset="-120"/>
              </a:rPr>
              <a:t>Foundation model</a:t>
            </a:r>
            <a:endParaRPr lang="en-US" sz="1700" dirty="0"/>
          </a:p>
        </p:txBody>
      </p:sp>
      <p:sp>
        <p:nvSpPr>
          <p:cNvPr id="44" name="Text 35"/>
          <p:cNvSpPr txBox="1"/>
          <p:nvPr/>
        </p:nvSpPr>
        <p:spPr>
          <a:xfrm>
            <a:off x="1508760" y="5394960"/>
            <a:ext cx="4297680" cy="640080"/>
          </a:xfrm>
          <a:prstGeom prst="rect">
            <a:avLst/>
          </a:prstGeom>
          <a:noFill/>
          <a:ln/>
        </p:spPr>
        <p:txBody>
          <a:bodyPr wrap="square" lIns="0" tIns="0" rIns="0" bIns="0" rtlCol="0" anchor="t"/>
          <a:lstStyle/>
          <a:p>
            <a:pPr indent="0" marL="0">
              <a:buNone/>
            </a:pPr>
            <a:r>
              <a:rPr lang="en-US" sz="1400" dirty="0">
                <a:solidFill>
                  <a:srgbClr val="E6EDF3"/>
                </a:solidFill>
                <a:latin typeface="Calibri" pitchFamily="34" charset="0"/>
                <a:ea typeface="Calibri" pitchFamily="34" charset="-122"/>
                <a:cs typeface="Calibri" pitchFamily="34" charset="-120"/>
              </a:rPr>
              <a:t>Reasoning: reads code, forms hypotheses, writes the fix.</a:t>
            </a:r>
            <a:endParaRPr lang="en-US" sz="1400" dirty="0"/>
          </a:p>
        </p:txBody>
      </p:sp>
      <p:sp>
        <p:nvSpPr>
          <p:cNvPr id="45" name="Shape 36"/>
          <p:cNvSpPr/>
          <p:nvPr/>
        </p:nvSpPr>
        <p:spPr>
          <a:xfrm>
            <a:off x="6172200" y="4846320"/>
            <a:ext cx="5440680" cy="1325880"/>
          </a:xfrm>
          <a:prstGeom prst="roundRect">
            <a:avLst>
              <a:gd name="adj" fmla="val 8276"/>
            </a:avLst>
          </a:prstGeom>
          <a:solidFill>
            <a:srgbClr val="111C2E"/>
          </a:solidFill>
          <a:ln w="12700">
            <a:solidFill>
              <a:srgbClr val="30363D"/>
            </a:solidFill>
            <a:prstDash val="solid"/>
          </a:ln>
        </p:spPr>
      </p:sp>
      <p:sp>
        <p:nvSpPr>
          <p:cNvPr id="46" name="Shape 37"/>
          <p:cNvSpPr/>
          <p:nvPr/>
        </p:nvSpPr>
        <p:spPr>
          <a:xfrm>
            <a:off x="6400800" y="5074920"/>
            <a:ext cx="548640" cy="548640"/>
          </a:xfrm>
          <a:prstGeom prst="roundRect">
            <a:avLst>
              <a:gd name="adj" fmla="val 16667"/>
            </a:avLst>
          </a:prstGeom>
          <a:solidFill>
            <a:srgbClr val="3FB950">
              <a:alpha val="18000"/>
            </a:srgbClr>
          </a:solidFill>
          <a:ln w="12700">
            <a:solidFill>
              <a:srgbClr val="3FB950"/>
            </a:solidFill>
            <a:prstDash val="solid"/>
          </a:ln>
        </p:spPr>
      </p:sp>
      <p:pic>
        <p:nvPicPr>
          <p:cNvPr id="47" name="Image 7" descr="preencoded.png">    </p:cNvPr>
          <p:cNvPicPr>
            <a:picLocks noChangeAspect="1"/>
          </p:cNvPicPr>
          <p:nvPr/>
        </p:nvPicPr>
        <p:blipFill>
          <a:blip r:embed="rId8"/>
          <a:stretch>
            <a:fillRect/>
          </a:stretch>
        </p:blipFill>
        <p:spPr>
          <a:xfrm>
            <a:off x="6521501" y="5195621"/>
            <a:ext cx="307238" cy="307238"/>
          </a:xfrm>
          <a:prstGeom prst="rect">
            <a:avLst/>
          </a:prstGeom>
        </p:spPr>
      </p:pic>
      <p:sp>
        <p:nvSpPr>
          <p:cNvPr id="48" name="Text 38"/>
          <p:cNvSpPr txBox="1"/>
          <p:nvPr/>
        </p:nvSpPr>
        <p:spPr>
          <a:xfrm>
            <a:off x="7132320" y="5029200"/>
            <a:ext cx="4297680" cy="365760"/>
          </a:xfrm>
          <a:prstGeom prst="rect">
            <a:avLst/>
          </a:prstGeom>
          <a:noFill/>
          <a:ln/>
        </p:spPr>
        <p:txBody>
          <a:bodyPr wrap="square" lIns="0" tIns="0" rIns="0" bIns="0" rtlCol="0" anchor="t"/>
          <a:lstStyle/>
          <a:p>
            <a:pPr indent="0" marL="0">
              <a:buNone/>
            </a:pPr>
            <a:r>
              <a:rPr lang="en-US" sz="1700" b="1" dirty="0">
                <a:solidFill>
                  <a:srgbClr val="3FB950"/>
                </a:solidFill>
                <a:latin typeface="Calibri" pitchFamily="34" charset="0"/>
                <a:ea typeface="Calibri" pitchFamily="34" charset="-122"/>
                <a:cs typeface="Calibri" pitchFamily="34" charset="-120"/>
              </a:rPr>
              <a:t>VeriSWE harness</a:t>
            </a:r>
            <a:endParaRPr lang="en-US" sz="1700" dirty="0"/>
          </a:p>
        </p:txBody>
      </p:sp>
      <p:sp>
        <p:nvSpPr>
          <p:cNvPr id="49" name="Text 39"/>
          <p:cNvSpPr txBox="1"/>
          <p:nvPr/>
        </p:nvSpPr>
        <p:spPr>
          <a:xfrm>
            <a:off x="7132320" y="5394960"/>
            <a:ext cx="4297680" cy="640080"/>
          </a:xfrm>
          <a:prstGeom prst="rect">
            <a:avLst/>
          </a:prstGeom>
          <a:noFill/>
          <a:ln/>
        </p:spPr>
        <p:txBody>
          <a:bodyPr wrap="square" lIns="0" tIns="0" rIns="0" bIns="0" rtlCol="0" anchor="t"/>
          <a:lstStyle/>
          <a:p>
            <a:pPr indent="0" marL="0">
              <a:buNone/>
            </a:pPr>
            <a:r>
              <a:rPr lang="en-US" sz="1400" dirty="0">
                <a:solidFill>
                  <a:srgbClr val="E6EDF3"/>
                </a:solidFill>
                <a:latin typeface="Calibri" pitchFamily="34" charset="0"/>
                <a:ea typeface="Calibri" pitchFamily="34" charset="-122"/>
                <a:cs typeface="Calibri" pitchFamily="34" charset="-120"/>
              </a:rPr>
              <a:t>Autonomy: tools, guards, context, recovery, proof, telemetry.</a:t>
            </a:r>
            <a:endParaRPr lang="en-US" sz="1400" dirty="0"/>
          </a:p>
        </p:txBody>
      </p:sp>
      <p:sp>
        <p:nvSpPr>
          <p:cNvPr id="50" name="Text 40"/>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51" name="Text 41"/>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verification gate</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VERIFIED requires objective evidence: something that fails on the original code and passes with the change.</a:t>
            </a:r>
            <a:endParaRPr lang="en-US" sz="1600" dirty="0"/>
          </a:p>
        </p:txBody>
      </p:sp>
      <p:sp>
        <p:nvSpPr>
          <p:cNvPr id="4" name="Shape 2"/>
          <p:cNvSpPr/>
          <p:nvPr/>
        </p:nvSpPr>
        <p:spPr>
          <a:xfrm>
            <a:off x="548640" y="1783080"/>
            <a:ext cx="6035040" cy="621792"/>
          </a:xfrm>
          <a:prstGeom prst="roundRect">
            <a:avLst>
              <a:gd name="adj" fmla="val 17647"/>
            </a:avLst>
          </a:prstGeom>
          <a:solidFill>
            <a:srgbClr val="111C2E"/>
          </a:solidFill>
          <a:ln w="12700">
            <a:solidFill>
              <a:srgbClr val="3FB950"/>
            </a:solidFill>
            <a:prstDash val="solid"/>
          </a:ln>
        </p:spPr>
      </p:sp>
      <p:sp>
        <p:nvSpPr>
          <p:cNvPr id="5" name="Text 3"/>
          <p:cNvSpPr txBox="1"/>
          <p:nvPr/>
        </p:nvSpPr>
        <p:spPr>
          <a:xfrm>
            <a:off x="777240" y="1783080"/>
            <a:ext cx="2103120" cy="621792"/>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1.  DIFF</a:t>
            </a:r>
            <a:endParaRPr lang="en-US" sz="1400" dirty="0"/>
          </a:p>
        </p:txBody>
      </p:sp>
      <p:sp>
        <p:nvSpPr>
          <p:cNvPr id="6" name="Text 4"/>
          <p:cNvSpPr txBox="1"/>
          <p:nvPr/>
        </p:nvSpPr>
        <p:spPr>
          <a:xfrm>
            <a:off x="2834640" y="1783080"/>
            <a:ext cx="3246120" cy="621792"/>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a real change exists vs. the original commit</a:t>
            </a:r>
            <a:endParaRPr lang="en-US" sz="1300" dirty="0"/>
          </a:p>
        </p:txBody>
      </p:sp>
      <p:sp>
        <p:nvSpPr>
          <p:cNvPr id="7" name="Text 5"/>
          <p:cNvSpPr txBox="1"/>
          <p:nvPr/>
        </p:nvSpPr>
        <p:spPr>
          <a:xfrm>
            <a:off x="6126480" y="1783080"/>
            <a:ext cx="320040" cy="621792"/>
          </a:xfrm>
          <a:prstGeom prst="rect">
            <a:avLst/>
          </a:prstGeom>
          <a:noFill/>
          <a:ln/>
        </p:spPr>
        <p:txBody>
          <a:bodyPr wrap="square" lIns="0" tIns="0" rIns="0" bIns="0" rtlCol="0" anchor="ctr"/>
          <a:lstStyle/>
          <a:p>
            <a:pPr indent="0" marL="0">
              <a:buNone/>
            </a:pPr>
            <a:r>
              <a:rPr lang="en-US" sz="1800" b="1" dirty="0">
                <a:solidFill>
                  <a:srgbClr val="3FB950"/>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548640" y="2514600"/>
            <a:ext cx="6035040" cy="621792"/>
          </a:xfrm>
          <a:prstGeom prst="roundRect">
            <a:avLst>
              <a:gd name="adj" fmla="val 17647"/>
            </a:avLst>
          </a:prstGeom>
          <a:solidFill>
            <a:srgbClr val="111C2E"/>
          </a:solidFill>
          <a:ln w="12700">
            <a:solidFill>
              <a:srgbClr val="3FB950"/>
            </a:solidFill>
            <a:prstDash val="solid"/>
          </a:ln>
        </p:spPr>
      </p:sp>
      <p:sp>
        <p:nvSpPr>
          <p:cNvPr id="9" name="Text 7"/>
          <p:cNvSpPr txBox="1"/>
          <p:nvPr/>
        </p:nvSpPr>
        <p:spPr>
          <a:xfrm>
            <a:off x="777240" y="2514600"/>
            <a:ext cx="2103120" cy="621792"/>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2.  SYNTAX</a:t>
            </a:r>
            <a:endParaRPr lang="en-US" sz="1400" dirty="0"/>
          </a:p>
        </p:txBody>
      </p:sp>
      <p:sp>
        <p:nvSpPr>
          <p:cNvPr id="10" name="Text 8"/>
          <p:cNvSpPr txBox="1"/>
          <p:nvPr/>
        </p:nvSpPr>
        <p:spPr>
          <a:xfrm>
            <a:off x="2834640" y="2514600"/>
            <a:ext cx="3246120" cy="621792"/>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every changed file still parses</a:t>
            </a:r>
            <a:endParaRPr lang="en-US" sz="1300" dirty="0"/>
          </a:p>
        </p:txBody>
      </p:sp>
      <p:sp>
        <p:nvSpPr>
          <p:cNvPr id="11" name="Text 9"/>
          <p:cNvSpPr txBox="1"/>
          <p:nvPr/>
        </p:nvSpPr>
        <p:spPr>
          <a:xfrm>
            <a:off x="6126480" y="2514600"/>
            <a:ext cx="320040" cy="621792"/>
          </a:xfrm>
          <a:prstGeom prst="rect">
            <a:avLst/>
          </a:prstGeom>
          <a:noFill/>
          <a:ln/>
        </p:spPr>
        <p:txBody>
          <a:bodyPr wrap="square" lIns="0" tIns="0" rIns="0" bIns="0" rtlCol="0" anchor="ctr"/>
          <a:lstStyle/>
          <a:p>
            <a:pPr indent="0" marL="0">
              <a:buNone/>
            </a:pPr>
            <a:r>
              <a:rPr lang="en-US" sz="1800" b="1" dirty="0">
                <a:solidFill>
                  <a:srgbClr val="3FB950"/>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48640" y="3246120"/>
            <a:ext cx="6035040" cy="621792"/>
          </a:xfrm>
          <a:prstGeom prst="roundRect">
            <a:avLst>
              <a:gd name="adj" fmla="val 17647"/>
            </a:avLst>
          </a:prstGeom>
          <a:solidFill>
            <a:srgbClr val="111C2E"/>
          </a:solidFill>
          <a:ln w="12700">
            <a:solidFill>
              <a:srgbClr val="3FB950"/>
            </a:solidFill>
            <a:prstDash val="solid"/>
          </a:ln>
        </p:spPr>
      </p:sp>
      <p:sp>
        <p:nvSpPr>
          <p:cNvPr id="13" name="Text 11"/>
          <p:cNvSpPr txBox="1"/>
          <p:nvPr/>
        </p:nvSpPr>
        <p:spPr>
          <a:xfrm>
            <a:off x="777240" y="3246120"/>
            <a:ext cx="2103120" cy="621792"/>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3.  REPRO_BEFORE</a:t>
            </a:r>
            <a:endParaRPr lang="en-US" sz="1400" dirty="0"/>
          </a:p>
        </p:txBody>
      </p:sp>
      <p:sp>
        <p:nvSpPr>
          <p:cNvPr id="14" name="Text 12"/>
          <p:cNvSpPr txBox="1"/>
          <p:nvPr/>
        </p:nvSpPr>
        <p:spPr>
          <a:xfrm>
            <a:off x="2834640" y="3246120"/>
            <a:ext cx="3246120" cy="621792"/>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evidence FAILS on the original code (problem is real)</a:t>
            </a:r>
            <a:endParaRPr lang="en-US" sz="1300" dirty="0"/>
          </a:p>
        </p:txBody>
      </p:sp>
      <p:sp>
        <p:nvSpPr>
          <p:cNvPr id="15" name="Text 13"/>
          <p:cNvSpPr txBox="1"/>
          <p:nvPr/>
        </p:nvSpPr>
        <p:spPr>
          <a:xfrm>
            <a:off x="6126480" y="3246120"/>
            <a:ext cx="320040" cy="621792"/>
          </a:xfrm>
          <a:prstGeom prst="rect">
            <a:avLst/>
          </a:prstGeom>
          <a:noFill/>
          <a:ln/>
        </p:spPr>
        <p:txBody>
          <a:bodyPr wrap="square" lIns="0" tIns="0" rIns="0" bIns="0" rtlCol="0" anchor="ctr"/>
          <a:lstStyle/>
          <a:p>
            <a:pPr indent="0" marL="0">
              <a:buNone/>
            </a:pPr>
            <a:r>
              <a:rPr lang="en-US" sz="1800" b="1" dirty="0">
                <a:solidFill>
                  <a:srgbClr val="3FB950"/>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48640" y="3977640"/>
            <a:ext cx="6035040" cy="621792"/>
          </a:xfrm>
          <a:prstGeom prst="roundRect">
            <a:avLst>
              <a:gd name="adj" fmla="val 17647"/>
            </a:avLst>
          </a:prstGeom>
          <a:solidFill>
            <a:srgbClr val="111C2E"/>
          </a:solidFill>
          <a:ln w="12700">
            <a:solidFill>
              <a:srgbClr val="3FB950"/>
            </a:solidFill>
            <a:prstDash val="solid"/>
          </a:ln>
        </p:spPr>
      </p:sp>
      <p:sp>
        <p:nvSpPr>
          <p:cNvPr id="17" name="Text 15"/>
          <p:cNvSpPr txBox="1"/>
          <p:nvPr/>
        </p:nvSpPr>
        <p:spPr>
          <a:xfrm>
            <a:off x="777240" y="3977640"/>
            <a:ext cx="2103120" cy="621792"/>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4.  REPRO_AFTER</a:t>
            </a:r>
            <a:endParaRPr lang="en-US" sz="1400" dirty="0"/>
          </a:p>
        </p:txBody>
      </p:sp>
      <p:sp>
        <p:nvSpPr>
          <p:cNvPr id="18" name="Text 16"/>
          <p:cNvSpPr txBox="1"/>
          <p:nvPr/>
        </p:nvSpPr>
        <p:spPr>
          <a:xfrm>
            <a:off x="2834640" y="3977640"/>
            <a:ext cx="3246120" cy="621792"/>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evidence PASSES with the change</a:t>
            </a:r>
            <a:endParaRPr lang="en-US" sz="1300" dirty="0"/>
          </a:p>
        </p:txBody>
      </p:sp>
      <p:sp>
        <p:nvSpPr>
          <p:cNvPr id="19" name="Text 17"/>
          <p:cNvSpPr txBox="1"/>
          <p:nvPr/>
        </p:nvSpPr>
        <p:spPr>
          <a:xfrm>
            <a:off x="6126480" y="3977640"/>
            <a:ext cx="320040" cy="621792"/>
          </a:xfrm>
          <a:prstGeom prst="rect">
            <a:avLst/>
          </a:prstGeom>
          <a:noFill/>
          <a:ln/>
        </p:spPr>
        <p:txBody>
          <a:bodyPr wrap="square" lIns="0" tIns="0" rIns="0" bIns="0" rtlCol="0" anchor="ctr"/>
          <a:lstStyle/>
          <a:p>
            <a:pPr indent="0" marL="0">
              <a:buNone/>
            </a:pPr>
            <a:r>
              <a:rPr lang="en-US" sz="1800" b="1" dirty="0">
                <a:solidFill>
                  <a:srgbClr val="3FB950"/>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548640" y="4709160"/>
            <a:ext cx="6035040" cy="621792"/>
          </a:xfrm>
          <a:prstGeom prst="roundRect">
            <a:avLst>
              <a:gd name="adj" fmla="val 17647"/>
            </a:avLst>
          </a:prstGeom>
          <a:solidFill>
            <a:srgbClr val="111C2E"/>
          </a:solidFill>
          <a:ln w="12700">
            <a:solidFill>
              <a:srgbClr val="3FB950"/>
            </a:solidFill>
            <a:prstDash val="solid"/>
          </a:ln>
        </p:spPr>
      </p:sp>
      <p:sp>
        <p:nvSpPr>
          <p:cNvPr id="21" name="Text 19"/>
          <p:cNvSpPr txBox="1"/>
          <p:nvPr/>
        </p:nvSpPr>
        <p:spPr>
          <a:xfrm>
            <a:off x="777240" y="4709160"/>
            <a:ext cx="2103120" cy="621792"/>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5.  TESTS</a:t>
            </a:r>
            <a:endParaRPr lang="en-US" sz="1400" dirty="0"/>
          </a:p>
        </p:txBody>
      </p:sp>
      <p:sp>
        <p:nvSpPr>
          <p:cNvPr id="22" name="Text 20"/>
          <p:cNvSpPr txBox="1"/>
          <p:nvPr/>
        </p:nvSpPr>
        <p:spPr>
          <a:xfrm>
            <a:off x="2834640" y="4709160"/>
            <a:ext cx="3246120" cy="621792"/>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related tests: no regressions vs. the original results</a:t>
            </a:r>
            <a:endParaRPr lang="en-US" sz="1300" dirty="0"/>
          </a:p>
        </p:txBody>
      </p:sp>
      <p:sp>
        <p:nvSpPr>
          <p:cNvPr id="23" name="Text 21"/>
          <p:cNvSpPr txBox="1"/>
          <p:nvPr/>
        </p:nvSpPr>
        <p:spPr>
          <a:xfrm>
            <a:off x="6126480" y="4709160"/>
            <a:ext cx="320040" cy="621792"/>
          </a:xfrm>
          <a:prstGeom prst="rect">
            <a:avLst/>
          </a:prstGeom>
          <a:noFill/>
          <a:ln/>
        </p:spPr>
        <p:txBody>
          <a:bodyPr wrap="square" lIns="0" tIns="0" rIns="0" bIns="0" rtlCol="0" anchor="ctr"/>
          <a:lstStyle/>
          <a:p>
            <a:pPr indent="0" marL="0">
              <a:buNone/>
            </a:pPr>
            <a:r>
              <a:rPr lang="en-US" sz="1800" b="1" dirty="0">
                <a:solidFill>
                  <a:srgbClr val="3FB950"/>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548640" y="5440680"/>
            <a:ext cx="6035040" cy="621792"/>
          </a:xfrm>
          <a:prstGeom prst="roundRect">
            <a:avLst>
              <a:gd name="adj" fmla="val 17647"/>
            </a:avLst>
          </a:prstGeom>
          <a:solidFill>
            <a:srgbClr val="111C2E"/>
          </a:solidFill>
          <a:ln w="12700">
            <a:solidFill>
              <a:srgbClr val="3FB950"/>
            </a:solidFill>
            <a:prstDash val="solid"/>
          </a:ln>
        </p:spPr>
      </p:sp>
      <p:sp>
        <p:nvSpPr>
          <p:cNvPr id="25" name="Text 23"/>
          <p:cNvSpPr txBox="1"/>
          <p:nvPr/>
        </p:nvSpPr>
        <p:spPr>
          <a:xfrm>
            <a:off x="777240" y="5440680"/>
            <a:ext cx="2103120" cy="621792"/>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6.  EVIDENCE</a:t>
            </a:r>
            <a:endParaRPr lang="en-US" sz="1400" dirty="0"/>
          </a:p>
        </p:txBody>
      </p:sp>
      <p:sp>
        <p:nvSpPr>
          <p:cNvPr id="26" name="Text 24"/>
          <p:cNvSpPr txBox="1"/>
          <p:nvPr/>
        </p:nvSpPr>
        <p:spPr>
          <a:xfrm>
            <a:off x="2834640" y="5440680"/>
            <a:ext cx="3246120" cy="621792"/>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at least one fail → pass proof, never a claim</a:t>
            </a:r>
            <a:endParaRPr lang="en-US" sz="1300" dirty="0"/>
          </a:p>
        </p:txBody>
      </p:sp>
      <p:sp>
        <p:nvSpPr>
          <p:cNvPr id="27" name="Text 25"/>
          <p:cNvSpPr txBox="1"/>
          <p:nvPr/>
        </p:nvSpPr>
        <p:spPr>
          <a:xfrm>
            <a:off x="6126480" y="5440680"/>
            <a:ext cx="320040" cy="621792"/>
          </a:xfrm>
          <a:prstGeom prst="rect">
            <a:avLst/>
          </a:prstGeom>
          <a:noFill/>
          <a:ln/>
        </p:spPr>
        <p:txBody>
          <a:bodyPr wrap="square" lIns="0" tIns="0" rIns="0" bIns="0" rtlCol="0" anchor="ctr"/>
          <a:lstStyle/>
          <a:p>
            <a:pPr indent="0" marL="0">
              <a:buNone/>
            </a:pPr>
            <a:r>
              <a:rPr lang="en-US" sz="1800" b="1" dirty="0">
                <a:solidFill>
                  <a:srgbClr val="3FB950"/>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6903720" y="1783080"/>
            <a:ext cx="4754880" cy="2286000"/>
          </a:xfrm>
          <a:prstGeom prst="roundRect">
            <a:avLst>
              <a:gd name="adj" fmla="val 4800"/>
            </a:avLst>
          </a:prstGeom>
          <a:solidFill>
            <a:srgbClr val="111C2E"/>
          </a:solidFill>
          <a:ln w="12700">
            <a:solidFill>
              <a:srgbClr val="1F6FEB"/>
            </a:solidFill>
            <a:prstDash val="solid"/>
          </a:ln>
        </p:spPr>
      </p:sp>
      <p:sp>
        <p:nvSpPr>
          <p:cNvPr id="29" name="Text 27"/>
          <p:cNvSpPr txBox="1"/>
          <p:nvPr/>
        </p:nvSpPr>
        <p:spPr>
          <a:xfrm>
            <a:off x="7132320" y="1920240"/>
            <a:ext cx="4389120" cy="365760"/>
          </a:xfrm>
          <a:prstGeom prst="rect">
            <a:avLst/>
          </a:prstGeom>
          <a:noFill/>
          <a:ln/>
        </p:spPr>
        <p:txBody>
          <a:bodyPr wrap="square" lIns="0" tIns="0" rIns="0" bIns="0" rtlCol="0" anchor="t"/>
          <a:lstStyle/>
          <a:p>
            <a:pPr indent="0" marL="0">
              <a:buNone/>
            </a:pPr>
            <a:r>
              <a:rPr lang="en-US" sz="1700" b="1" dirty="0">
                <a:solidFill>
                  <a:srgbClr val="79C0FF"/>
                </a:solidFill>
                <a:latin typeface="Calibri" pitchFamily="34" charset="0"/>
                <a:ea typeface="Calibri" pitchFamily="34" charset="-122"/>
                <a:cs typeface="Calibri" pitchFamily="34" charset="-120"/>
              </a:rPr>
              <a:t>Evidence adapts to the task type</a:t>
            </a:r>
            <a:endParaRPr lang="en-US" sz="1700" dirty="0"/>
          </a:p>
        </p:txBody>
      </p:sp>
      <p:sp>
        <p:nvSpPr>
          <p:cNvPr id="30" name="Text 28"/>
          <p:cNvSpPr txBox="1"/>
          <p:nvPr/>
        </p:nvSpPr>
        <p:spPr>
          <a:xfrm>
            <a:off x="7132320" y="2377440"/>
            <a:ext cx="4389120" cy="1920240"/>
          </a:xfrm>
          <a:prstGeom prst="rect">
            <a:avLst/>
          </a:prstGeom>
          <a:noFill/>
          <a:ln/>
        </p:spPr>
        <p:txBody>
          <a:bodyPr wrap="square" lIns="0" tIns="0" rIns="0" bIns="0" rtlCol="0" anchor="t"/>
          <a:lstStyle/>
          <a:p>
            <a:pPr indent="0" marL="0">
              <a:spcAft>
                <a:spcPts val="800"/>
              </a:spcAft>
              <a:buNone/>
            </a:pPr>
            <a:r>
              <a:rPr lang="en-US" sz="1400" b="1" dirty="0">
                <a:solidFill>
                  <a:srgbClr val="F0B429"/>
                </a:solidFill>
                <a:latin typeface="Calibri" pitchFamily="34" charset="0"/>
                <a:ea typeface="Calibri" pitchFamily="34" charset="-122"/>
                <a:cs typeface="Calibri" pitchFamily="34" charset="-120"/>
              </a:rPr>
              <a:t>Bug — </a:t>
            </a:r>
            <a:pPr indent="0" marL="0">
              <a:spcAft>
                <a:spcPts val="800"/>
              </a:spcAft>
              <a:buNone/>
            </a:pPr>
            <a:r>
              <a:rPr lang="en-US" sz="1400" dirty="0">
                <a:solidFill>
                  <a:srgbClr val="E6EDF3"/>
                </a:solidFill>
                <a:latin typeface="Calibri" pitchFamily="34" charset="0"/>
                <a:ea typeface="Calibri" pitchFamily="34" charset="-122"/>
                <a:cs typeface="Calibri" pitchFamily="34" charset="-120"/>
              </a:rPr>
              <a:t>reproduction fails → passes</a:t>
            </a:r>
            <a:endParaRPr lang="en-US" sz="1400" dirty="0"/>
          </a:p>
          <a:p>
            <a:pPr indent="0" marL="0">
              <a:spcAft>
                <a:spcPts val="800"/>
              </a:spcAft>
              <a:buNone/>
            </a:pPr>
            <a:r>
              <a:rPr lang="en-US" sz="1400" b="1" dirty="0">
                <a:solidFill>
                  <a:srgbClr val="F0B429"/>
                </a:solidFill>
                <a:latin typeface="Calibri" pitchFamily="34" charset="0"/>
                <a:ea typeface="Calibri" pitchFamily="34" charset="-122"/>
                <a:cs typeface="Calibri" pitchFamily="34" charset="-120"/>
              </a:rPr>
              <a:t>Feature / test-fix — </a:t>
            </a:r>
            <a:pPr indent="0" marL="0">
              <a:spcAft>
                <a:spcPts val="800"/>
              </a:spcAft>
              <a:buNone/>
            </a:pPr>
            <a:r>
              <a:rPr lang="en-US" sz="1400" dirty="0">
                <a:solidFill>
                  <a:srgbClr val="E6EDF3"/>
                </a:solidFill>
                <a:latin typeface="Calibri" pitchFamily="34" charset="0"/>
                <a:ea typeface="Calibri" pitchFamily="34" charset="-122"/>
                <a:cs typeface="Calibri" pitchFamily="34" charset="-120"/>
              </a:rPr>
              <a:t>new or failing test fails → passes</a:t>
            </a:r>
            <a:endParaRPr lang="en-US" sz="1400" dirty="0"/>
          </a:p>
          <a:p>
            <a:pPr indent="0" marL="0">
              <a:spcAft>
                <a:spcPts val="800"/>
              </a:spcAft>
              <a:buNone/>
            </a:pPr>
            <a:r>
              <a:rPr lang="en-US" sz="1400" b="1" dirty="0">
                <a:solidFill>
                  <a:srgbClr val="F0B429"/>
                </a:solidFill>
                <a:latin typeface="Calibri" pitchFamily="34" charset="0"/>
                <a:ea typeface="Calibri" pitchFamily="34" charset="-122"/>
                <a:cs typeface="Calibri" pitchFamily="34" charset="-120"/>
              </a:rPr>
              <a:t>Refactor — </a:t>
            </a:r>
            <a:pPr indent="0" marL="0">
              <a:spcAft>
                <a:spcPts val="800"/>
              </a:spcAft>
              <a:buNone/>
            </a:pPr>
            <a:r>
              <a:rPr lang="en-US" sz="1400" dirty="0">
                <a:solidFill>
                  <a:srgbClr val="E6EDF3"/>
                </a:solidFill>
                <a:latin typeface="Calibri" pitchFamily="34" charset="0"/>
                <a:ea typeface="Calibri" pitchFamily="34" charset="-122"/>
                <a:cs typeface="Calibri" pitchFamily="34" charset="-120"/>
              </a:rPr>
              <a:t>related tests pass before and after</a:t>
            </a:r>
            <a:endParaRPr lang="en-US" sz="1400" dirty="0"/>
          </a:p>
          <a:p>
            <a:pPr indent="0" marL="0">
              <a:spcAft>
                <a:spcPts val="800"/>
              </a:spcAft>
              <a:buNone/>
            </a:pPr>
            <a:r>
              <a:rPr lang="en-US" sz="1400" b="1" dirty="0">
                <a:solidFill>
                  <a:srgbClr val="FF6B81"/>
                </a:solidFill>
                <a:latin typeface="Calibri" pitchFamily="34" charset="0"/>
                <a:ea typeface="Calibri" pitchFamily="34" charset="-122"/>
                <a:cs typeface="Calibri" pitchFamily="34" charset="-120"/>
              </a:rPr>
              <a:t>No proof — </a:t>
            </a:r>
            <a:pPr indent="0" marL="0">
              <a:spcAft>
                <a:spcPts val="800"/>
              </a:spcAft>
              <a:buNone/>
            </a:pPr>
            <a:r>
              <a:rPr lang="en-US" sz="1400" dirty="0">
                <a:solidFill>
                  <a:srgbClr val="E6EDF3"/>
                </a:solidFill>
                <a:latin typeface="Calibri" pitchFamily="34" charset="0"/>
                <a:ea typeface="Calibri" pitchFamily="34" charset="-122"/>
                <a:cs typeface="Calibri" pitchFamily="34" charset="-120"/>
              </a:rPr>
              <a:t>UNVERIFIED (patch kept for inspection)</a:t>
            </a:r>
            <a:endParaRPr lang="en-US" sz="1400" dirty="0"/>
          </a:p>
        </p:txBody>
      </p:sp>
      <p:sp>
        <p:nvSpPr>
          <p:cNvPr id="31" name="Shape 29"/>
          <p:cNvSpPr/>
          <p:nvPr/>
        </p:nvSpPr>
        <p:spPr>
          <a:xfrm>
            <a:off x="6903720" y="4343400"/>
            <a:ext cx="438912" cy="438912"/>
          </a:xfrm>
          <a:prstGeom prst="roundRect">
            <a:avLst>
              <a:gd name="adj" fmla="val 20833"/>
            </a:avLst>
          </a:prstGeom>
          <a:solidFill>
            <a:srgbClr val="3FB950">
              <a:alpha val="18000"/>
            </a:srgbClr>
          </a:solidFill>
          <a:ln w="12700">
            <a:solidFill>
              <a:srgbClr val="3FB950"/>
            </a:solidFill>
            <a:prstDash val="solid"/>
          </a:ln>
        </p:spPr>
      </p:sp>
      <p:pic>
        <p:nvPicPr>
          <p:cNvPr id="32" name="Image 0" descr="preencoded.png">    </p:cNvPr>
          <p:cNvPicPr>
            <a:picLocks noChangeAspect="1"/>
          </p:cNvPicPr>
          <p:nvPr/>
        </p:nvPicPr>
        <p:blipFill>
          <a:blip r:embed="rId1"/>
          <a:stretch>
            <a:fillRect/>
          </a:stretch>
        </p:blipFill>
        <p:spPr>
          <a:xfrm>
            <a:off x="7000281" y="4439961"/>
            <a:ext cx="245791" cy="245791"/>
          </a:xfrm>
          <a:prstGeom prst="rect">
            <a:avLst/>
          </a:prstGeom>
        </p:spPr>
      </p:pic>
      <p:sp>
        <p:nvSpPr>
          <p:cNvPr id="33" name="Text 30"/>
          <p:cNvSpPr txBox="1"/>
          <p:nvPr/>
        </p:nvSpPr>
        <p:spPr>
          <a:xfrm>
            <a:off x="7498080" y="4343400"/>
            <a:ext cx="4114800" cy="438912"/>
          </a:xfrm>
          <a:prstGeom prst="rect">
            <a:avLst/>
          </a:prstGeom>
          <a:noFill/>
          <a:ln/>
        </p:spPr>
        <p:txBody>
          <a:bodyPr wrap="square" lIns="0" tIns="0" rIns="0" bIns="0" rtlCol="0" anchor="ctr"/>
          <a:lstStyle/>
          <a:p>
            <a:pPr indent="0" marL="0">
              <a:buNone/>
            </a:pPr>
            <a:r>
              <a:rPr lang="en-US" sz="1400" b="1" dirty="0">
                <a:solidFill>
                  <a:srgbClr val="E6EDF3"/>
                </a:solidFill>
                <a:latin typeface="Calibri" pitchFamily="34" charset="0"/>
                <a:ea typeface="Calibri" pitchFamily="34" charset="-122"/>
                <a:cs typeface="Calibri" pitchFamily="34" charset="-120"/>
              </a:rPr>
              <a:t>Never relaxed in later rounds</a:t>
            </a:r>
            <a:endParaRPr lang="en-US" sz="1400" dirty="0"/>
          </a:p>
        </p:txBody>
      </p:sp>
      <p:sp>
        <p:nvSpPr>
          <p:cNvPr id="34" name="Shape 31"/>
          <p:cNvSpPr/>
          <p:nvPr/>
        </p:nvSpPr>
        <p:spPr>
          <a:xfrm>
            <a:off x="6903720" y="4965192"/>
            <a:ext cx="438912" cy="438912"/>
          </a:xfrm>
          <a:prstGeom prst="roundRect">
            <a:avLst>
              <a:gd name="adj" fmla="val 20833"/>
            </a:avLst>
          </a:prstGeom>
          <a:solidFill>
            <a:srgbClr val="3FB950">
              <a:alpha val="18000"/>
            </a:srgbClr>
          </a:solidFill>
          <a:ln w="12700">
            <a:solidFill>
              <a:srgbClr val="3FB950"/>
            </a:solidFill>
            <a:prstDash val="solid"/>
          </a:ln>
        </p:spPr>
      </p:sp>
      <p:pic>
        <p:nvPicPr>
          <p:cNvPr id="35" name="Image 1" descr="preencoded.png">    </p:cNvPr>
          <p:cNvPicPr>
            <a:picLocks noChangeAspect="1"/>
          </p:cNvPicPr>
          <p:nvPr/>
        </p:nvPicPr>
        <p:blipFill>
          <a:blip r:embed="rId2"/>
          <a:stretch>
            <a:fillRect/>
          </a:stretch>
        </p:blipFill>
        <p:spPr>
          <a:xfrm>
            <a:off x="7000281" y="5061753"/>
            <a:ext cx="245791" cy="245791"/>
          </a:xfrm>
          <a:prstGeom prst="rect">
            <a:avLst/>
          </a:prstGeom>
        </p:spPr>
      </p:pic>
      <p:sp>
        <p:nvSpPr>
          <p:cNvPr id="36" name="Text 32"/>
          <p:cNvSpPr txBox="1"/>
          <p:nvPr/>
        </p:nvSpPr>
        <p:spPr>
          <a:xfrm>
            <a:off x="7498080" y="4965192"/>
            <a:ext cx="4114800" cy="438912"/>
          </a:xfrm>
          <a:prstGeom prst="rect">
            <a:avLst/>
          </a:prstGeom>
          <a:noFill/>
          <a:ln/>
        </p:spPr>
        <p:txBody>
          <a:bodyPr wrap="square" lIns="0" tIns="0" rIns="0" bIns="0" rtlCol="0" anchor="ctr"/>
          <a:lstStyle/>
          <a:p>
            <a:pPr indent="0" marL="0">
              <a:buNone/>
            </a:pPr>
            <a:r>
              <a:rPr lang="en-US" sz="1400" b="1" dirty="0">
                <a:solidFill>
                  <a:srgbClr val="E6EDF3"/>
                </a:solidFill>
                <a:latin typeface="Calibri" pitchFamily="34" charset="0"/>
                <a:ea typeface="Calibri" pitchFamily="34" charset="-122"/>
                <a:cs typeface="Calibri" pitchFamily="34" charset="-120"/>
              </a:rPr>
              <a:t>A verifier crash is NOT a submission</a:t>
            </a:r>
            <a:endParaRPr lang="en-US" sz="1400" dirty="0"/>
          </a:p>
        </p:txBody>
      </p:sp>
      <p:sp>
        <p:nvSpPr>
          <p:cNvPr id="37" name="Shape 33"/>
          <p:cNvSpPr/>
          <p:nvPr/>
        </p:nvSpPr>
        <p:spPr>
          <a:xfrm>
            <a:off x="6903720" y="5586984"/>
            <a:ext cx="438912" cy="438912"/>
          </a:xfrm>
          <a:prstGeom prst="roundRect">
            <a:avLst>
              <a:gd name="adj" fmla="val 20833"/>
            </a:avLst>
          </a:prstGeom>
          <a:solidFill>
            <a:srgbClr val="3FB950">
              <a:alpha val="18000"/>
            </a:srgbClr>
          </a:solidFill>
          <a:ln w="12700">
            <a:solidFill>
              <a:srgbClr val="3FB950"/>
            </a:solidFill>
            <a:prstDash val="solid"/>
          </a:ln>
        </p:spPr>
      </p:sp>
      <p:pic>
        <p:nvPicPr>
          <p:cNvPr id="38" name="Image 2" descr="preencoded.png">    </p:cNvPr>
          <p:cNvPicPr>
            <a:picLocks noChangeAspect="1"/>
          </p:cNvPicPr>
          <p:nvPr/>
        </p:nvPicPr>
        <p:blipFill>
          <a:blip r:embed="rId3"/>
          <a:stretch>
            <a:fillRect/>
          </a:stretch>
        </p:blipFill>
        <p:spPr>
          <a:xfrm>
            <a:off x="7000281" y="5683545"/>
            <a:ext cx="245791" cy="245791"/>
          </a:xfrm>
          <a:prstGeom prst="rect">
            <a:avLst/>
          </a:prstGeom>
        </p:spPr>
      </p:pic>
      <p:sp>
        <p:nvSpPr>
          <p:cNvPr id="39" name="Text 34"/>
          <p:cNvSpPr txBox="1"/>
          <p:nvPr/>
        </p:nvSpPr>
        <p:spPr>
          <a:xfrm>
            <a:off x="7498080" y="5586984"/>
            <a:ext cx="4114800" cy="438912"/>
          </a:xfrm>
          <a:prstGeom prst="rect">
            <a:avLst/>
          </a:prstGeom>
          <a:noFill/>
          <a:ln/>
        </p:spPr>
        <p:txBody>
          <a:bodyPr wrap="square" lIns="0" tIns="0" rIns="0" bIns="0" rtlCol="0" anchor="ctr"/>
          <a:lstStyle/>
          <a:p>
            <a:pPr indent="0" marL="0">
              <a:buNone/>
            </a:pPr>
            <a:r>
              <a:rPr lang="en-US" sz="1400" b="1" dirty="0">
                <a:solidFill>
                  <a:srgbClr val="E6EDF3"/>
                </a:solidFill>
                <a:latin typeface="Calibri" pitchFamily="34" charset="0"/>
                <a:ea typeface="Calibri" pitchFamily="34" charset="-122"/>
                <a:cs typeface="Calibri" pitchFamily="34" charset="-120"/>
              </a:rPr>
              <a:t>Best checkpoint restored if work gets worse</a:t>
            </a:r>
            <a:endParaRPr lang="en-US" sz="1400" dirty="0"/>
          </a:p>
        </p:txBody>
      </p:sp>
      <p:sp>
        <p:nvSpPr>
          <p:cNvPr id="40" name="Text 35"/>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41" name="Text 36"/>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Mission control, in the terminal</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`make run` — every decision the harness makes is visible while it happens.</a:t>
            </a:r>
            <a:endParaRPr lang="en-US" sz="1600" dirty="0"/>
          </a:p>
        </p:txBody>
      </p:sp>
      <p:sp>
        <p:nvSpPr>
          <p:cNvPr id="4" name="Shape 2"/>
          <p:cNvSpPr/>
          <p:nvPr/>
        </p:nvSpPr>
        <p:spPr>
          <a:xfrm>
            <a:off x="502920" y="1645920"/>
            <a:ext cx="6995160" cy="5120640"/>
          </a:xfrm>
          <a:prstGeom prst="roundRect">
            <a:avLst>
              <a:gd name="adj" fmla="val 2143"/>
            </a:avLst>
          </a:prstGeom>
          <a:solidFill>
            <a:srgbClr val="111C2E"/>
          </a:solidFill>
          <a:ln w="12700">
            <a:solidFill>
              <a:srgbClr val="1F6FEB"/>
            </a:solidFill>
            <a:prstDash val="solid"/>
          </a:ln>
          <a:effectLst>
            <a:outerShdw sx="100000" sy="100000" kx="0" ky="0" algn="bl" rotWithShape="0" blurRad="152400" dist="50800" dir="5400000">
              <a:srgbClr val="000000">
                <a:alpha val="45000"/>
              </a:srgbClr>
            </a:outerShdw>
          </a:effectLst>
        </p:spPr>
      </p:sp>
      <p:pic>
        <p:nvPicPr>
          <p:cNvPr id="5" name="Image 0" descr="/Users/saumya_kumar/Desktop/hackathon/docs/assets/veriswe-tui.png">    </p:cNvPr>
          <p:cNvPicPr>
            <a:picLocks noChangeAspect="1"/>
          </p:cNvPicPr>
          <p:nvPr/>
        </p:nvPicPr>
        <p:blipFill>
          <a:blip r:embed="rId1"/>
          <a:stretch>
            <a:fillRect/>
          </a:stretch>
        </p:blipFill>
        <p:spPr>
          <a:xfrm>
            <a:off x="594360" y="1737360"/>
            <a:ext cx="6812280" cy="4937760"/>
          </a:xfrm>
          <a:prstGeom prst="rect">
            <a:avLst/>
          </a:prstGeom>
        </p:spPr>
      </p:pic>
      <p:sp>
        <p:nvSpPr>
          <p:cNvPr id="6" name="Shape 3"/>
          <p:cNvSpPr/>
          <p:nvPr/>
        </p:nvSpPr>
        <p:spPr>
          <a:xfrm>
            <a:off x="7818120" y="1764792"/>
            <a:ext cx="384048" cy="384048"/>
          </a:xfrm>
          <a:prstGeom prst="ellipse">
            <a:avLst/>
          </a:prstGeom>
          <a:solidFill>
            <a:srgbClr val="1F6FEB"/>
          </a:solidFill>
          <a:ln w="12700">
            <a:solidFill>
              <a:srgbClr val="1F6FEB"/>
            </a:solidFill>
            <a:prstDash val="solid"/>
          </a:ln>
        </p:spPr>
      </p:sp>
      <p:sp>
        <p:nvSpPr>
          <p:cNvPr id="7" name="Text 4"/>
          <p:cNvSpPr txBox="1"/>
          <p:nvPr/>
        </p:nvSpPr>
        <p:spPr>
          <a:xfrm>
            <a:off x="7818120"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8366760" y="1737360"/>
            <a:ext cx="3291840" cy="365760"/>
          </a:xfrm>
          <a:prstGeom prst="rect">
            <a:avLst/>
          </a:prstGeom>
          <a:noFill/>
          <a:ln/>
        </p:spPr>
        <p:txBody>
          <a:bodyPr wrap="square" lIns="0" tIns="0" rIns="0" bIns="0" rtlCol="0" anchor="t"/>
          <a:lstStyle/>
          <a:p>
            <a:pPr indent="0" marL="0">
              <a:buNone/>
            </a:pPr>
            <a:r>
              <a:rPr lang="en-US" sz="1600" b="1" dirty="0">
                <a:solidFill>
                  <a:srgbClr val="79C0FF"/>
                </a:solidFill>
                <a:latin typeface="Calibri" pitchFamily="34" charset="0"/>
                <a:ea typeface="Calibri" pitchFamily="34" charset="-122"/>
                <a:cs typeface="Calibri" pitchFamily="34" charset="-120"/>
              </a:rPr>
              <a:t>Phase pipeline</a:t>
            </a:r>
            <a:endParaRPr lang="en-US" sz="1600" dirty="0"/>
          </a:p>
        </p:txBody>
      </p:sp>
      <p:sp>
        <p:nvSpPr>
          <p:cNvPr id="9" name="Text 6"/>
          <p:cNvSpPr txBox="1"/>
          <p:nvPr/>
        </p:nvSpPr>
        <p:spPr>
          <a:xfrm>
            <a:off x="8366760" y="2103120"/>
            <a:ext cx="3291840" cy="59436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SETUP → EXPLORE → REPRODUCE → FIX → VERIFY → DONE; falls back to FIX on rejection</a:t>
            </a:r>
            <a:endParaRPr lang="en-US" sz="1200" dirty="0"/>
          </a:p>
        </p:txBody>
      </p:sp>
      <p:sp>
        <p:nvSpPr>
          <p:cNvPr id="10" name="Shape 7"/>
          <p:cNvSpPr/>
          <p:nvPr/>
        </p:nvSpPr>
        <p:spPr>
          <a:xfrm>
            <a:off x="7818120" y="2752344"/>
            <a:ext cx="384048" cy="384048"/>
          </a:xfrm>
          <a:prstGeom prst="ellipse">
            <a:avLst/>
          </a:prstGeom>
          <a:solidFill>
            <a:srgbClr val="1F6FEB"/>
          </a:solidFill>
          <a:ln w="12700">
            <a:solidFill>
              <a:srgbClr val="1F6FEB"/>
            </a:solidFill>
            <a:prstDash val="solid"/>
          </a:ln>
        </p:spPr>
      </p:sp>
      <p:sp>
        <p:nvSpPr>
          <p:cNvPr id="11" name="Text 8"/>
          <p:cNvSpPr txBox="1"/>
          <p:nvPr/>
        </p:nvSpPr>
        <p:spPr>
          <a:xfrm>
            <a:off x="7818120" y="2752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366760" y="2724912"/>
            <a:ext cx="3291840" cy="365760"/>
          </a:xfrm>
          <a:prstGeom prst="rect">
            <a:avLst/>
          </a:prstGeom>
          <a:noFill/>
          <a:ln/>
        </p:spPr>
        <p:txBody>
          <a:bodyPr wrap="square" lIns="0" tIns="0" rIns="0" bIns="0" rtlCol="0" anchor="t"/>
          <a:lstStyle/>
          <a:p>
            <a:pPr indent="0" marL="0">
              <a:buNone/>
            </a:pPr>
            <a:r>
              <a:rPr lang="en-US" sz="1600" b="1" dirty="0">
                <a:solidFill>
                  <a:srgbClr val="79C0FF"/>
                </a:solidFill>
                <a:latin typeface="Calibri" pitchFamily="34" charset="0"/>
                <a:ea typeface="Calibri" pitchFamily="34" charset="-122"/>
                <a:cs typeface="Calibri" pitchFamily="34" charset="-120"/>
              </a:rPr>
              <a:t>Agent timeline</a:t>
            </a:r>
            <a:endParaRPr lang="en-US" sz="1600" dirty="0"/>
          </a:p>
        </p:txBody>
      </p:sp>
      <p:sp>
        <p:nvSpPr>
          <p:cNvPr id="13" name="Text 10"/>
          <p:cNvSpPr txBox="1"/>
          <p:nvPr/>
        </p:nvSpPr>
        <p:spPr>
          <a:xfrm>
            <a:off x="8366760" y="3090672"/>
            <a:ext cx="3291840" cy="59436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milestones, not raw commands — including the rejected attempt and the recovery</a:t>
            </a:r>
            <a:endParaRPr lang="en-US" sz="1200" dirty="0"/>
          </a:p>
        </p:txBody>
      </p:sp>
      <p:sp>
        <p:nvSpPr>
          <p:cNvPr id="14" name="Shape 11"/>
          <p:cNvSpPr/>
          <p:nvPr/>
        </p:nvSpPr>
        <p:spPr>
          <a:xfrm>
            <a:off x="7818120" y="3739896"/>
            <a:ext cx="384048" cy="384048"/>
          </a:xfrm>
          <a:prstGeom prst="ellipse">
            <a:avLst/>
          </a:prstGeom>
          <a:solidFill>
            <a:srgbClr val="1F6FEB"/>
          </a:solidFill>
          <a:ln w="12700">
            <a:solidFill>
              <a:srgbClr val="1F6FEB"/>
            </a:solidFill>
            <a:prstDash val="solid"/>
          </a:ln>
        </p:spPr>
      </p:sp>
      <p:sp>
        <p:nvSpPr>
          <p:cNvPr id="15" name="Text 12"/>
          <p:cNvSpPr txBox="1"/>
          <p:nvPr/>
        </p:nvSpPr>
        <p:spPr>
          <a:xfrm>
            <a:off x="7818120" y="3739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8366760" y="3712464"/>
            <a:ext cx="3291840" cy="365760"/>
          </a:xfrm>
          <a:prstGeom prst="rect">
            <a:avLst/>
          </a:prstGeom>
          <a:noFill/>
          <a:ln/>
        </p:spPr>
        <p:txBody>
          <a:bodyPr wrap="square" lIns="0" tIns="0" rIns="0" bIns="0" rtlCol="0" anchor="t"/>
          <a:lstStyle/>
          <a:p>
            <a:pPr indent="0" marL="0">
              <a:buNone/>
            </a:pPr>
            <a:r>
              <a:rPr lang="en-US" sz="1600" b="1" dirty="0">
                <a:solidFill>
                  <a:srgbClr val="79C0FF"/>
                </a:solidFill>
                <a:latin typeface="Calibri" pitchFamily="34" charset="0"/>
                <a:ea typeface="Calibri" pitchFamily="34" charset="-122"/>
                <a:cs typeface="Calibri" pitchFamily="34" charset="-120"/>
              </a:rPr>
              <a:t>Verification gate</a:t>
            </a:r>
            <a:endParaRPr lang="en-US" sz="1600" dirty="0"/>
          </a:p>
        </p:txBody>
      </p:sp>
      <p:sp>
        <p:nvSpPr>
          <p:cNvPr id="17" name="Text 14"/>
          <p:cNvSpPr txBox="1"/>
          <p:nvPr/>
        </p:nvSpPr>
        <p:spPr>
          <a:xfrm>
            <a:off x="8366760" y="4078224"/>
            <a:ext cx="3291840" cy="59436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six independent checks, live: completed · in progress · failed · pending</a:t>
            </a:r>
            <a:endParaRPr lang="en-US" sz="1200" dirty="0"/>
          </a:p>
        </p:txBody>
      </p:sp>
      <p:sp>
        <p:nvSpPr>
          <p:cNvPr id="18" name="Shape 15"/>
          <p:cNvSpPr/>
          <p:nvPr/>
        </p:nvSpPr>
        <p:spPr>
          <a:xfrm>
            <a:off x="7818120" y="4727448"/>
            <a:ext cx="384048" cy="384048"/>
          </a:xfrm>
          <a:prstGeom prst="ellipse">
            <a:avLst/>
          </a:prstGeom>
          <a:solidFill>
            <a:srgbClr val="1F6FEB"/>
          </a:solidFill>
          <a:ln w="12700">
            <a:solidFill>
              <a:srgbClr val="1F6FEB"/>
            </a:solidFill>
            <a:prstDash val="solid"/>
          </a:ln>
        </p:spPr>
      </p:sp>
      <p:sp>
        <p:nvSpPr>
          <p:cNvPr id="19" name="Text 16"/>
          <p:cNvSpPr txBox="1"/>
          <p:nvPr/>
        </p:nvSpPr>
        <p:spPr>
          <a:xfrm>
            <a:off x="7818120" y="4727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8366760" y="4700016"/>
            <a:ext cx="3291840" cy="365760"/>
          </a:xfrm>
          <a:prstGeom prst="rect">
            <a:avLst/>
          </a:prstGeom>
          <a:noFill/>
          <a:ln/>
        </p:spPr>
        <p:txBody>
          <a:bodyPr wrap="square" lIns="0" tIns="0" rIns="0" bIns="0" rtlCol="0" anchor="t"/>
          <a:lstStyle/>
          <a:p>
            <a:pPr indent="0" marL="0">
              <a:buNone/>
            </a:pPr>
            <a:r>
              <a:rPr lang="en-US" sz="1600" b="1" dirty="0">
                <a:solidFill>
                  <a:srgbClr val="79C0FF"/>
                </a:solidFill>
                <a:latin typeface="Calibri" pitchFamily="34" charset="0"/>
                <a:ea typeface="Calibri" pitchFamily="34" charset="-122"/>
                <a:cs typeface="Calibri" pitchFamily="34" charset="-120"/>
              </a:rPr>
              <a:t>Patch status &amp; risk</a:t>
            </a:r>
            <a:endParaRPr lang="en-US" sz="1600" dirty="0"/>
          </a:p>
        </p:txBody>
      </p:sp>
      <p:sp>
        <p:nvSpPr>
          <p:cNvPr id="21" name="Text 18"/>
          <p:cNvSpPr txBox="1"/>
          <p:nvPr/>
        </p:nvSpPr>
        <p:spPr>
          <a:xfrm>
            <a:off x="8366760" y="5065776"/>
            <a:ext cx="3291840" cy="59436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harness test results (passed / failed / total) and a LOW · MEDIUM · HIGH rating</a:t>
            </a:r>
            <a:endParaRPr lang="en-US" sz="1200" dirty="0"/>
          </a:p>
        </p:txBody>
      </p:sp>
      <p:sp>
        <p:nvSpPr>
          <p:cNvPr id="22" name="Shape 19"/>
          <p:cNvSpPr/>
          <p:nvPr/>
        </p:nvSpPr>
        <p:spPr>
          <a:xfrm>
            <a:off x="7818120" y="5715000"/>
            <a:ext cx="384048" cy="384048"/>
          </a:xfrm>
          <a:prstGeom prst="ellipse">
            <a:avLst/>
          </a:prstGeom>
          <a:solidFill>
            <a:srgbClr val="1F6FEB"/>
          </a:solidFill>
          <a:ln w="12700">
            <a:solidFill>
              <a:srgbClr val="1F6FEB"/>
            </a:solidFill>
            <a:prstDash val="solid"/>
          </a:ln>
        </p:spPr>
      </p:sp>
      <p:sp>
        <p:nvSpPr>
          <p:cNvPr id="23" name="Text 20"/>
          <p:cNvSpPr txBox="1"/>
          <p:nvPr/>
        </p:nvSpPr>
        <p:spPr>
          <a:xfrm>
            <a:off x="7818120" y="5715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1"/>
          <p:cNvSpPr txBox="1"/>
          <p:nvPr/>
        </p:nvSpPr>
        <p:spPr>
          <a:xfrm>
            <a:off x="8366760" y="5687568"/>
            <a:ext cx="3291840" cy="365760"/>
          </a:xfrm>
          <a:prstGeom prst="rect">
            <a:avLst/>
          </a:prstGeom>
          <a:noFill/>
          <a:ln/>
        </p:spPr>
        <p:txBody>
          <a:bodyPr wrap="square" lIns="0" tIns="0" rIns="0" bIns="0" rtlCol="0" anchor="t"/>
          <a:lstStyle/>
          <a:p>
            <a:pPr indent="0" marL="0">
              <a:buNone/>
            </a:pPr>
            <a:r>
              <a:rPr lang="en-US" sz="1600" b="1" dirty="0">
                <a:solidFill>
                  <a:srgbClr val="79C0FF"/>
                </a:solidFill>
                <a:latin typeface="Calibri" pitchFamily="34" charset="0"/>
                <a:ea typeface="Calibri" pitchFamily="34" charset="-122"/>
                <a:cs typeface="Calibri" pitchFamily="34" charset="-120"/>
              </a:rPr>
              <a:t>Claim vs evidence</a:t>
            </a:r>
            <a:endParaRPr lang="en-US" sz="1600" dirty="0"/>
          </a:p>
        </p:txBody>
      </p:sp>
      <p:sp>
        <p:nvSpPr>
          <p:cNvPr id="25" name="Text 22"/>
          <p:cNvSpPr txBox="1"/>
          <p:nvPr/>
        </p:nvSpPr>
        <p:spPr>
          <a:xfrm>
            <a:off x="8366760" y="6053328"/>
            <a:ext cx="3291840" cy="59436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what the model said, next to what the harness proved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Failures are expected. Recovery is engineered.</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Each path exists because a real provider failure hit us during live testing (Qwen and gpt-oss on Groq, OpenRouter, DeepSeek).</a:t>
            </a:r>
            <a:endParaRPr lang="en-US" sz="1600" dirty="0"/>
          </a:p>
        </p:txBody>
      </p:sp>
      <p:sp>
        <p:nvSpPr>
          <p:cNvPr id="4" name="Shape 2"/>
          <p:cNvSpPr/>
          <p:nvPr/>
        </p:nvSpPr>
        <p:spPr>
          <a:xfrm>
            <a:off x="548640" y="1783080"/>
            <a:ext cx="2651760" cy="1965960"/>
          </a:xfrm>
          <a:prstGeom prst="roundRect">
            <a:avLst>
              <a:gd name="adj" fmla="val 5581"/>
            </a:avLst>
          </a:prstGeom>
          <a:solidFill>
            <a:srgbClr val="111C2E"/>
          </a:solidFill>
          <a:ln w="12700">
            <a:solidFill>
              <a:srgbClr val="30363D"/>
            </a:solidFill>
            <a:prstDash val="solid"/>
          </a:ln>
        </p:spPr>
      </p:sp>
      <p:sp>
        <p:nvSpPr>
          <p:cNvPr id="5" name="Shape 3"/>
          <p:cNvSpPr/>
          <p:nvPr/>
        </p:nvSpPr>
        <p:spPr>
          <a:xfrm>
            <a:off x="777240" y="2011680"/>
            <a:ext cx="548640" cy="548640"/>
          </a:xfrm>
          <a:prstGeom prst="roundRect">
            <a:avLst>
              <a:gd name="adj" fmla="val 16667"/>
            </a:avLst>
          </a:prstGeom>
          <a:solidFill>
            <a:srgbClr val="79C0FF">
              <a:alpha val="18000"/>
            </a:srgbClr>
          </a:solidFill>
          <a:ln w="12700">
            <a:solidFill>
              <a:srgbClr val="79C0FF"/>
            </a:solidFill>
            <a:prstDash val="solid"/>
          </a:ln>
        </p:spPr>
      </p:sp>
      <p:pic>
        <p:nvPicPr>
          <p:cNvPr id="6" name="Image 0" descr="preencoded.png">    </p:cNvPr>
          <p:cNvPicPr>
            <a:picLocks noChangeAspect="1"/>
          </p:cNvPicPr>
          <p:nvPr/>
        </p:nvPicPr>
        <p:blipFill>
          <a:blip r:embed="rId1"/>
          <a:stretch>
            <a:fillRect/>
          </a:stretch>
        </p:blipFill>
        <p:spPr>
          <a:xfrm>
            <a:off x="897941" y="2132381"/>
            <a:ext cx="307238" cy="307238"/>
          </a:xfrm>
          <a:prstGeom prst="rect">
            <a:avLst/>
          </a:prstGeom>
        </p:spPr>
      </p:pic>
      <p:sp>
        <p:nvSpPr>
          <p:cNvPr id="7" name="Text 4"/>
          <p:cNvSpPr txBox="1"/>
          <p:nvPr/>
        </p:nvSpPr>
        <p:spPr>
          <a:xfrm>
            <a:off x="777240" y="267919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Rate limits</a:t>
            </a:r>
            <a:endParaRPr lang="en-US" sz="1600" dirty="0"/>
          </a:p>
        </p:txBody>
      </p:sp>
      <p:sp>
        <p:nvSpPr>
          <p:cNvPr id="8" name="Text 5"/>
          <p:cNvSpPr txBox="1"/>
          <p:nvPr/>
        </p:nvSpPr>
        <p:spPr>
          <a:xfrm>
            <a:off x="777240" y="304495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waits exactly the provider’s Retry-After</a:t>
            </a:r>
            <a:endParaRPr lang="en-US" sz="1300" dirty="0"/>
          </a:p>
        </p:txBody>
      </p:sp>
      <p:sp>
        <p:nvSpPr>
          <p:cNvPr id="9" name="Shape 6"/>
          <p:cNvSpPr/>
          <p:nvPr/>
        </p:nvSpPr>
        <p:spPr>
          <a:xfrm>
            <a:off x="3383280" y="1783080"/>
            <a:ext cx="2651760" cy="1965960"/>
          </a:xfrm>
          <a:prstGeom prst="roundRect">
            <a:avLst>
              <a:gd name="adj" fmla="val 5581"/>
            </a:avLst>
          </a:prstGeom>
          <a:solidFill>
            <a:srgbClr val="111C2E"/>
          </a:solidFill>
          <a:ln w="12700">
            <a:solidFill>
              <a:srgbClr val="30363D"/>
            </a:solidFill>
            <a:prstDash val="solid"/>
          </a:ln>
        </p:spPr>
      </p:sp>
      <p:sp>
        <p:nvSpPr>
          <p:cNvPr id="10" name="Shape 7"/>
          <p:cNvSpPr/>
          <p:nvPr/>
        </p:nvSpPr>
        <p:spPr>
          <a:xfrm>
            <a:off x="3611880" y="2011680"/>
            <a:ext cx="548640" cy="548640"/>
          </a:xfrm>
          <a:prstGeom prst="roundRect">
            <a:avLst>
              <a:gd name="adj" fmla="val 16667"/>
            </a:avLst>
          </a:prstGeom>
          <a:solidFill>
            <a:srgbClr val="F0B429">
              <a:alpha val="18000"/>
            </a:srgbClr>
          </a:solidFill>
          <a:ln w="12700">
            <a:solidFill>
              <a:srgbClr val="F0B429"/>
            </a:solidFill>
            <a:prstDash val="solid"/>
          </a:ln>
        </p:spPr>
      </p:sp>
      <p:pic>
        <p:nvPicPr>
          <p:cNvPr id="11" name="Image 1" descr="preencoded.png">    </p:cNvPr>
          <p:cNvPicPr>
            <a:picLocks noChangeAspect="1"/>
          </p:cNvPicPr>
          <p:nvPr/>
        </p:nvPicPr>
        <p:blipFill>
          <a:blip r:embed="rId2"/>
          <a:stretch>
            <a:fillRect/>
          </a:stretch>
        </p:blipFill>
        <p:spPr>
          <a:xfrm>
            <a:off x="3732581" y="2132381"/>
            <a:ext cx="307238" cy="307238"/>
          </a:xfrm>
          <a:prstGeom prst="rect">
            <a:avLst/>
          </a:prstGeom>
        </p:spPr>
      </p:pic>
      <p:sp>
        <p:nvSpPr>
          <p:cNvPr id="12" name="Text 8"/>
          <p:cNvSpPr txBox="1"/>
          <p:nvPr/>
        </p:nvSpPr>
        <p:spPr>
          <a:xfrm>
            <a:off x="3611880" y="267919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Request too large</a:t>
            </a:r>
            <a:endParaRPr lang="en-US" sz="1600" dirty="0"/>
          </a:p>
        </p:txBody>
      </p:sp>
      <p:sp>
        <p:nvSpPr>
          <p:cNvPr id="13" name="Text 9"/>
          <p:cNvSpPr txBox="1"/>
          <p:nvPr/>
        </p:nvSpPr>
        <p:spPr>
          <a:xfrm>
            <a:off x="3611880" y="304495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fits the output budget, then compacts history</a:t>
            </a:r>
            <a:endParaRPr lang="en-US" sz="1300" dirty="0"/>
          </a:p>
        </p:txBody>
      </p:sp>
      <p:sp>
        <p:nvSpPr>
          <p:cNvPr id="14" name="Shape 10"/>
          <p:cNvSpPr/>
          <p:nvPr/>
        </p:nvSpPr>
        <p:spPr>
          <a:xfrm>
            <a:off x="6217920" y="1783080"/>
            <a:ext cx="2651760" cy="1965960"/>
          </a:xfrm>
          <a:prstGeom prst="roundRect">
            <a:avLst>
              <a:gd name="adj" fmla="val 5581"/>
            </a:avLst>
          </a:prstGeom>
          <a:solidFill>
            <a:srgbClr val="111C2E"/>
          </a:solidFill>
          <a:ln w="12700">
            <a:solidFill>
              <a:srgbClr val="30363D"/>
            </a:solidFill>
            <a:prstDash val="solid"/>
          </a:ln>
        </p:spPr>
      </p:sp>
      <p:sp>
        <p:nvSpPr>
          <p:cNvPr id="15" name="Shape 11"/>
          <p:cNvSpPr/>
          <p:nvPr/>
        </p:nvSpPr>
        <p:spPr>
          <a:xfrm>
            <a:off x="6446520" y="2011680"/>
            <a:ext cx="548640" cy="548640"/>
          </a:xfrm>
          <a:prstGeom prst="roundRect">
            <a:avLst>
              <a:gd name="adj" fmla="val 16667"/>
            </a:avLst>
          </a:prstGeom>
          <a:solidFill>
            <a:srgbClr val="79C0FF">
              <a:alpha val="18000"/>
            </a:srgbClr>
          </a:solidFill>
          <a:ln w="12700">
            <a:solidFill>
              <a:srgbClr val="79C0FF"/>
            </a:solidFill>
            <a:prstDash val="solid"/>
          </a:ln>
        </p:spPr>
      </p:sp>
      <p:pic>
        <p:nvPicPr>
          <p:cNvPr id="16" name="Image 2" descr="preencoded.png">    </p:cNvPr>
          <p:cNvPicPr>
            <a:picLocks noChangeAspect="1"/>
          </p:cNvPicPr>
          <p:nvPr/>
        </p:nvPicPr>
        <p:blipFill>
          <a:blip r:embed="rId3"/>
          <a:stretch>
            <a:fillRect/>
          </a:stretch>
        </p:blipFill>
        <p:spPr>
          <a:xfrm>
            <a:off x="6567221" y="2132381"/>
            <a:ext cx="307238" cy="307238"/>
          </a:xfrm>
          <a:prstGeom prst="rect">
            <a:avLst/>
          </a:prstGeom>
        </p:spPr>
      </p:pic>
      <p:sp>
        <p:nvSpPr>
          <p:cNvPr id="17" name="Text 12"/>
          <p:cNvSpPr txBox="1"/>
          <p:nvPr/>
        </p:nvSpPr>
        <p:spPr>
          <a:xfrm>
            <a:off x="6446520" y="267919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Rejected tool call</a:t>
            </a:r>
            <a:endParaRPr lang="en-US" sz="1600" dirty="0"/>
          </a:p>
        </p:txBody>
      </p:sp>
      <p:sp>
        <p:nvSpPr>
          <p:cNvPr id="18" name="Text 13"/>
          <p:cNvSpPr txBox="1"/>
          <p:nvPr/>
        </p:nvSpPr>
        <p:spPr>
          <a:xfrm>
            <a:off x="6446520" y="304495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salvages the command from the raw generation</a:t>
            </a:r>
            <a:endParaRPr lang="en-US" sz="1300" dirty="0"/>
          </a:p>
        </p:txBody>
      </p:sp>
      <p:sp>
        <p:nvSpPr>
          <p:cNvPr id="19" name="Shape 14"/>
          <p:cNvSpPr/>
          <p:nvPr/>
        </p:nvSpPr>
        <p:spPr>
          <a:xfrm>
            <a:off x="9052560" y="1783080"/>
            <a:ext cx="2651760" cy="1965960"/>
          </a:xfrm>
          <a:prstGeom prst="roundRect">
            <a:avLst>
              <a:gd name="adj" fmla="val 5581"/>
            </a:avLst>
          </a:prstGeom>
          <a:solidFill>
            <a:srgbClr val="111C2E"/>
          </a:solidFill>
          <a:ln w="12700">
            <a:solidFill>
              <a:srgbClr val="30363D"/>
            </a:solidFill>
            <a:prstDash val="solid"/>
          </a:ln>
        </p:spPr>
      </p:sp>
      <p:sp>
        <p:nvSpPr>
          <p:cNvPr id="20" name="Shape 15"/>
          <p:cNvSpPr/>
          <p:nvPr/>
        </p:nvSpPr>
        <p:spPr>
          <a:xfrm>
            <a:off x="9281160" y="2011680"/>
            <a:ext cx="548640" cy="548640"/>
          </a:xfrm>
          <a:prstGeom prst="roundRect">
            <a:avLst>
              <a:gd name="adj" fmla="val 16667"/>
            </a:avLst>
          </a:prstGeom>
          <a:solidFill>
            <a:srgbClr val="F0B429">
              <a:alpha val="18000"/>
            </a:srgbClr>
          </a:solidFill>
          <a:ln w="12700">
            <a:solidFill>
              <a:srgbClr val="F0B429"/>
            </a:solidFill>
            <a:prstDash val="solid"/>
          </a:ln>
        </p:spPr>
      </p:sp>
      <p:pic>
        <p:nvPicPr>
          <p:cNvPr id="21" name="Image 3" descr="preencoded.png">    </p:cNvPr>
          <p:cNvPicPr>
            <a:picLocks noChangeAspect="1"/>
          </p:cNvPicPr>
          <p:nvPr/>
        </p:nvPicPr>
        <p:blipFill>
          <a:blip r:embed="rId4"/>
          <a:stretch>
            <a:fillRect/>
          </a:stretch>
        </p:blipFill>
        <p:spPr>
          <a:xfrm>
            <a:off x="9401861" y="2132381"/>
            <a:ext cx="307238" cy="307238"/>
          </a:xfrm>
          <a:prstGeom prst="rect">
            <a:avLst/>
          </a:prstGeom>
        </p:spPr>
      </p:pic>
      <p:sp>
        <p:nvSpPr>
          <p:cNvPr id="22" name="Text 16"/>
          <p:cNvSpPr txBox="1"/>
          <p:nvPr/>
        </p:nvSpPr>
        <p:spPr>
          <a:xfrm>
            <a:off x="9281160" y="267919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Tool calling broken</a:t>
            </a:r>
            <a:endParaRPr lang="en-US" sz="1600" dirty="0"/>
          </a:p>
        </p:txBody>
      </p:sp>
      <p:sp>
        <p:nvSpPr>
          <p:cNvPr id="23" name="Text 17"/>
          <p:cNvSpPr txBox="1"/>
          <p:nvPr/>
        </p:nvSpPr>
        <p:spPr>
          <a:xfrm>
            <a:off x="9281160" y="304495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switches to text actions mid-run</a:t>
            </a:r>
            <a:endParaRPr lang="en-US" sz="1300" dirty="0"/>
          </a:p>
        </p:txBody>
      </p:sp>
      <p:sp>
        <p:nvSpPr>
          <p:cNvPr id="24" name="Shape 18"/>
          <p:cNvSpPr/>
          <p:nvPr/>
        </p:nvSpPr>
        <p:spPr>
          <a:xfrm>
            <a:off x="548640" y="3977640"/>
            <a:ext cx="2651760" cy="1965960"/>
          </a:xfrm>
          <a:prstGeom prst="roundRect">
            <a:avLst>
              <a:gd name="adj" fmla="val 5581"/>
            </a:avLst>
          </a:prstGeom>
          <a:solidFill>
            <a:srgbClr val="111C2E"/>
          </a:solidFill>
          <a:ln w="12700">
            <a:solidFill>
              <a:srgbClr val="30363D"/>
            </a:solidFill>
            <a:prstDash val="solid"/>
          </a:ln>
        </p:spPr>
      </p:sp>
      <p:sp>
        <p:nvSpPr>
          <p:cNvPr id="25" name="Shape 19"/>
          <p:cNvSpPr/>
          <p:nvPr/>
        </p:nvSpPr>
        <p:spPr>
          <a:xfrm>
            <a:off x="777240" y="4206240"/>
            <a:ext cx="548640" cy="548640"/>
          </a:xfrm>
          <a:prstGeom prst="roundRect">
            <a:avLst>
              <a:gd name="adj" fmla="val 16667"/>
            </a:avLst>
          </a:prstGeom>
          <a:solidFill>
            <a:srgbClr val="79C0FF">
              <a:alpha val="18000"/>
            </a:srgbClr>
          </a:solidFill>
          <a:ln w="12700">
            <a:solidFill>
              <a:srgbClr val="79C0FF"/>
            </a:solidFill>
            <a:prstDash val="solid"/>
          </a:ln>
        </p:spPr>
      </p:sp>
      <p:pic>
        <p:nvPicPr>
          <p:cNvPr id="26" name="Image 4" descr="preencoded.png">    </p:cNvPr>
          <p:cNvPicPr>
            <a:picLocks noChangeAspect="1"/>
          </p:cNvPicPr>
          <p:nvPr/>
        </p:nvPicPr>
        <p:blipFill>
          <a:blip r:embed="rId5"/>
          <a:stretch>
            <a:fillRect/>
          </a:stretch>
        </p:blipFill>
        <p:spPr>
          <a:xfrm>
            <a:off x="897941" y="4326941"/>
            <a:ext cx="307238" cy="307238"/>
          </a:xfrm>
          <a:prstGeom prst="rect">
            <a:avLst/>
          </a:prstGeom>
        </p:spPr>
      </p:pic>
      <p:sp>
        <p:nvSpPr>
          <p:cNvPr id="27" name="Text 20"/>
          <p:cNvSpPr txBox="1"/>
          <p:nvPr/>
        </p:nvSpPr>
        <p:spPr>
          <a:xfrm>
            <a:off x="777240" y="487375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Loops</a:t>
            </a:r>
            <a:endParaRPr lang="en-US" sz="1600" dirty="0"/>
          </a:p>
        </p:txBody>
      </p:sp>
      <p:sp>
        <p:nvSpPr>
          <p:cNvPr id="28" name="Text 21"/>
          <p:cNvSpPr txBox="1"/>
          <p:nvPr/>
        </p:nvSpPr>
        <p:spPr>
          <a:xfrm>
            <a:off x="777240" y="523951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detected and nudged with escalating warnings</a:t>
            </a:r>
            <a:endParaRPr lang="en-US" sz="1300" dirty="0"/>
          </a:p>
        </p:txBody>
      </p:sp>
      <p:sp>
        <p:nvSpPr>
          <p:cNvPr id="29" name="Shape 22"/>
          <p:cNvSpPr/>
          <p:nvPr/>
        </p:nvSpPr>
        <p:spPr>
          <a:xfrm>
            <a:off x="3383280" y="3977640"/>
            <a:ext cx="2651760" cy="1965960"/>
          </a:xfrm>
          <a:prstGeom prst="roundRect">
            <a:avLst>
              <a:gd name="adj" fmla="val 5581"/>
            </a:avLst>
          </a:prstGeom>
          <a:solidFill>
            <a:srgbClr val="111C2E"/>
          </a:solidFill>
          <a:ln w="12700">
            <a:solidFill>
              <a:srgbClr val="30363D"/>
            </a:solidFill>
            <a:prstDash val="solid"/>
          </a:ln>
        </p:spPr>
      </p:sp>
      <p:sp>
        <p:nvSpPr>
          <p:cNvPr id="30" name="Shape 23"/>
          <p:cNvSpPr/>
          <p:nvPr/>
        </p:nvSpPr>
        <p:spPr>
          <a:xfrm>
            <a:off x="3611880" y="4206240"/>
            <a:ext cx="548640" cy="548640"/>
          </a:xfrm>
          <a:prstGeom prst="roundRect">
            <a:avLst>
              <a:gd name="adj" fmla="val 16667"/>
            </a:avLst>
          </a:prstGeom>
          <a:solidFill>
            <a:srgbClr val="F0B429">
              <a:alpha val="18000"/>
            </a:srgbClr>
          </a:solidFill>
          <a:ln w="12700">
            <a:solidFill>
              <a:srgbClr val="F0B429"/>
            </a:solidFill>
            <a:prstDash val="solid"/>
          </a:ln>
        </p:spPr>
      </p:sp>
      <p:pic>
        <p:nvPicPr>
          <p:cNvPr id="31" name="Image 5" descr="preencoded.png">    </p:cNvPr>
          <p:cNvPicPr>
            <a:picLocks noChangeAspect="1"/>
          </p:cNvPicPr>
          <p:nvPr/>
        </p:nvPicPr>
        <p:blipFill>
          <a:blip r:embed="rId6"/>
          <a:stretch>
            <a:fillRect/>
          </a:stretch>
        </p:blipFill>
        <p:spPr>
          <a:xfrm>
            <a:off x="3732581" y="4326941"/>
            <a:ext cx="307238" cy="307238"/>
          </a:xfrm>
          <a:prstGeom prst="rect">
            <a:avLst/>
          </a:prstGeom>
        </p:spPr>
      </p:pic>
      <p:sp>
        <p:nvSpPr>
          <p:cNvPr id="32" name="Text 24"/>
          <p:cNvSpPr txBox="1"/>
          <p:nvPr/>
        </p:nvSpPr>
        <p:spPr>
          <a:xfrm>
            <a:off x="3611880" y="487375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Edit breaks syntax</a:t>
            </a:r>
            <a:endParaRPr lang="en-US" sz="1600" dirty="0"/>
          </a:p>
        </p:txBody>
      </p:sp>
      <p:sp>
        <p:nvSpPr>
          <p:cNvPr id="33" name="Text 25"/>
          <p:cNvSpPr txBox="1"/>
          <p:nvPr/>
        </p:nvSpPr>
        <p:spPr>
          <a:xfrm>
            <a:off x="3611880" y="523951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auto-reverted by the lint-gated editor</a:t>
            </a:r>
            <a:endParaRPr lang="en-US" sz="1300" dirty="0"/>
          </a:p>
        </p:txBody>
      </p:sp>
      <p:sp>
        <p:nvSpPr>
          <p:cNvPr id="34" name="Shape 26"/>
          <p:cNvSpPr/>
          <p:nvPr/>
        </p:nvSpPr>
        <p:spPr>
          <a:xfrm>
            <a:off x="6217920" y="3977640"/>
            <a:ext cx="2651760" cy="1965960"/>
          </a:xfrm>
          <a:prstGeom prst="roundRect">
            <a:avLst>
              <a:gd name="adj" fmla="val 5581"/>
            </a:avLst>
          </a:prstGeom>
          <a:solidFill>
            <a:srgbClr val="111C2E"/>
          </a:solidFill>
          <a:ln w="12700">
            <a:solidFill>
              <a:srgbClr val="30363D"/>
            </a:solidFill>
            <a:prstDash val="solid"/>
          </a:ln>
        </p:spPr>
      </p:sp>
      <p:sp>
        <p:nvSpPr>
          <p:cNvPr id="35" name="Shape 27"/>
          <p:cNvSpPr/>
          <p:nvPr/>
        </p:nvSpPr>
        <p:spPr>
          <a:xfrm>
            <a:off x="6446520" y="4206240"/>
            <a:ext cx="548640" cy="548640"/>
          </a:xfrm>
          <a:prstGeom prst="roundRect">
            <a:avLst>
              <a:gd name="adj" fmla="val 16667"/>
            </a:avLst>
          </a:prstGeom>
          <a:solidFill>
            <a:srgbClr val="79C0FF">
              <a:alpha val="18000"/>
            </a:srgbClr>
          </a:solidFill>
          <a:ln w="12700">
            <a:solidFill>
              <a:srgbClr val="79C0FF"/>
            </a:solidFill>
            <a:prstDash val="solid"/>
          </a:ln>
        </p:spPr>
      </p:sp>
      <p:pic>
        <p:nvPicPr>
          <p:cNvPr id="36" name="Image 6" descr="preencoded.png">    </p:cNvPr>
          <p:cNvPicPr>
            <a:picLocks noChangeAspect="1"/>
          </p:cNvPicPr>
          <p:nvPr/>
        </p:nvPicPr>
        <p:blipFill>
          <a:blip r:embed="rId7"/>
          <a:stretch>
            <a:fillRect/>
          </a:stretch>
        </p:blipFill>
        <p:spPr>
          <a:xfrm>
            <a:off x="6567221" y="4326941"/>
            <a:ext cx="307238" cy="307238"/>
          </a:xfrm>
          <a:prstGeom prst="rect">
            <a:avLst/>
          </a:prstGeom>
        </p:spPr>
      </p:pic>
      <p:sp>
        <p:nvSpPr>
          <p:cNvPr id="37" name="Text 28"/>
          <p:cNvSpPr txBox="1"/>
          <p:nvPr/>
        </p:nvSpPr>
        <p:spPr>
          <a:xfrm>
            <a:off x="6446520" y="487375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Work gets worse</a:t>
            </a:r>
            <a:endParaRPr lang="en-US" sz="1600" dirty="0"/>
          </a:p>
        </p:txBody>
      </p:sp>
      <p:sp>
        <p:nvSpPr>
          <p:cNvPr id="38" name="Text 29"/>
          <p:cNvSpPr txBox="1"/>
          <p:nvPr/>
        </p:nvSpPr>
        <p:spPr>
          <a:xfrm>
            <a:off x="6446520" y="523951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restores the best verified checkpoint</a:t>
            </a:r>
            <a:endParaRPr lang="en-US" sz="1300" dirty="0"/>
          </a:p>
        </p:txBody>
      </p:sp>
      <p:sp>
        <p:nvSpPr>
          <p:cNvPr id="39" name="Shape 30"/>
          <p:cNvSpPr/>
          <p:nvPr/>
        </p:nvSpPr>
        <p:spPr>
          <a:xfrm>
            <a:off x="9052560" y="3977640"/>
            <a:ext cx="2651760" cy="1965960"/>
          </a:xfrm>
          <a:prstGeom prst="roundRect">
            <a:avLst>
              <a:gd name="adj" fmla="val 5581"/>
            </a:avLst>
          </a:prstGeom>
          <a:solidFill>
            <a:srgbClr val="111C2E"/>
          </a:solidFill>
          <a:ln w="12700">
            <a:solidFill>
              <a:srgbClr val="30363D"/>
            </a:solidFill>
            <a:prstDash val="solid"/>
          </a:ln>
        </p:spPr>
      </p:sp>
      <p:sp>
        <p:nvSpPr>
          <p:cNvPr id="40" name="Shape 31"/>
          <p:cNvSpPr/>
          <p:nvPr/>
        </p:nvSpPr>
        <p:spPr>
          <a:xfrm>
            <a:off x="9281160" y="4206240"/>
            <a:ext cx="548640" cy="548640"/>
          </a:xfrm>
          <a:prstGeom prst="roundRect">
            <a:avLst>
              <a:gd name="adj" fmla="val 16667"/>
            </a:avLst>
          </a:prstGeom>
          <a:solidFill>
            <a:srgbClr val="F0B429">
              <a:alpha val="18000"/>
            </a:srgbClr>
          </a:solidFill>
          <a:ln w="12700">
            <a:solidFill>
              <a:srgbClr val="F0B429"/>
            </a:solidFill>
            <a:prstDash val="solid"/>
          </a:ln>
        </p:spPr>
      </p:sp>
      <p:pic>
        <p:nvPicPr>
          <p:cNvPr id="41" name="Image 7" descr="preencoded.png">    </p:cNvPr>
          <p:cNvPicPr>
            <a:picLocks noChangeAspect="1"/>
          </p:cNvPicPr>
          <p:nvPr/>
        </p:nvPicPr>
        <p:blipFill>
          <a:blip r:embed="rId8"/>
          <a:stretch>
            <a:fillRect/>
          </a:stretch>
        </p:blipFill>
        <p:spPr>
          <a:xfrm>
            <a:off x="9401861" y="4326941"/>
            <a:ext cx="307238" cy="307238"/>
          </a:xfrm>
          <a:prstGeom prst="rect">
            <a:avLst/>
          </a:prstGeom>
        </p:spPr>
      </p:pic>
      <p:sp>
        <p:nvSpPr>
          <p:cNvPr id="42" name="Text 32"/>
          <p:cNvSpPr txBox="1"/>
          <p:nvPr/>
        </p:nvSpPr>
        <p:spPr>
          <a:xfrm>
            <a:off x="9281160" y="4873752"/>
            <a:ext cx="21945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Credit / quota gone</a:t>
            </a:r>
            <a:endParaRPr lang="en-US" sz="1600" dirty="0"/>
          </a:p>
        </p:txBody>
      </p:sp>
      <p:sp>
        <p:nvSpPr>
          <p:cNvPr id="43" name="Text 33"/>
          <p:cNvSpPr txBox="1"/>
          <p:nvPr/>
        </p:nvSpPr>
        <p:spPr>
          <a:xfrm>
            <a:off x="9281160" y="5239512"/>
            <a:ext cx="2194560" cy="64008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stops fast, keeps the best patch, honest status</a:t>
            </a:r>
            <a:endParaRPr lang="en-US" sz="1300" dirty="0"/>
          </a:p>
        </p:txBody>
      </p:sp>
      <p:sp>
        <p:nvSpPr>
          <p:cNvPr id="44" name="Text 3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45" name="Text 35"/>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Built for the evaluation models: DeepSeek &amp; Qwen</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Only AI_API_KEY is needed — VeriSWE works out the host, the model and the provider’s rules.</a:t>
            </a:r>
            <a:endParaRPr lang="en-US" sz="1600" dirty="0"/>
          </a:p>
        </p:txBody>
      </p:sp>
      <p:sp>
        <p:nvSpPr>
          <p:cNvPr id="4" name="Shape 2"/>
          <p:cNvSpPr/>
          <p:nvPr/>
        </p:nvSpPr>
        <p:spPr>
          <a:xfrm>
            <a:off x="548640" y="1783080"/>
            <a:ext cx="2514600" cy="777240"/>
          </a:xfrm>
          <a:prstGeom prst="roundRect">
            <a:avLst>
              <a:gd name="adj" fmla="val 14118"/>
            </a:avLst>
          </a:prstGeom>
          <a:solidFill>
            <a:srgbClr val="111C2E"/>
          </a:solidFill>
          <a:ln w="12700">
            <a:solidFill>
              <a:srgbClr val="1F6FEB"/>
            </a:solidFill>
            <a:prstDash val="solid"/>
          </a:ln>
        </p:spPr>
      </p:sp>
      <p:sp>
        <p:nvSpPr>
          <p:cNvPr id="5" name="Shape 3"/>
          <p:cNvSpPr/>
          <p:nvPr/>
        </p:nvSpPr>
        <p:spPr>
          <a:xfrm>
            <a:off x="685800" y="1892808"/>
            <a:ext cx="548640" cy="548640"/>
          </a:xfrm>
          <a:prstGeom prst="roundRect">
            <a:avLst>
              <a:gd name="adj" fmla="val 16667"/>
            </a:avLst>
          </a:prstGeom>
          <a:solidFill>
            <a:srgbClr val="79C0FF">
              <a:alpha val="18000"/>
            </a:srgbClr>
          </a:solidFill>
          <a:ln w="12700">
            <a:solidFill>
              <a:srgbClr val="79C0FF"/>
            </a:solidFill>
            <a:prstDash val="solid"/>
          </a:ln>
        </p:spPr>
      </p:sp>
      <p:pic>
        <p:nvPicPr>
          <p:cNvPr id="6" name="Image 0" descr="preencoded.png">    </p:cNvPr>
          <p:cNvPicPr>
            <a:picLocks noChangeAspect="1"/>
          </p:cNvPicPr>
          <p:nvPr/>
        </p:nvPicPr>
        <p:blipFill>
          <a:blip r:embed="rId1"/>
          <a:stretch>
            <a:fillRect/>
          </a:stretch>
        </p:blipFill>
        <p:spPr>
          <a:xfrm>
            <a:off x="806501" y="2013509"/>
            <a:ext cx="307238" cy="307238"/>
          </a:xfrm>
          <a:prstGeom prst="rect">
            <a:avLst/>
          </a:prstGeom>
        </p:spPr>
      </p:pic>
      <p:sp>
        <p:nvSpPr>
          <p:cNvPr id="7" name="Text 4"/>
          <p:cNvSpPr txBox="1"/>
          <p:nvPr/>
        </p:nvSpPr>
        <p:spPr>
          <a:xfrm>
            <a:off x="1371600" y="1783080"/>
            <a:ext cx="1645920" cy="777240"/>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AI_API_KEY</a:t>
            </a:r>
            <a:endParaRPr lang="en-US" sz="1600" dirty="0"/>
          </a:p>
        </p:txBody>
      </p:sp>
      <p:sp>
        <p:nvSpPr>
          <p:cNvPr id="8" name="Text 5"/>
          <p:cNvSpPr txBox="1"/>
          <p:nvPr/>
        </p:nvSpPr>
        <p:spPr>
          <a:xfrm>
            <a:off x="3063240" y="1783080"/>
            <a:ext cx="320040" cy="777240"/>
          </a:xfrm>
          <a:prstGeom prst="rect">
            <a:avLst/>
          </a:prstGeom>
          <a:noFill/>
          <a:ln/>
        </p:spPr>
        <p:txBody>
          <a:bodyPr wrap="square" lIns="0" tIns="0" rIns="0" bIns="0" rtlCol="0" anchor="ctr"/>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9" name="Shape 6"/>
          <p:cNvSpPr/>
          <p:nvPr/>
        </p:nvSpPr>
        <p:spPr>
          <a:xfrm>
            <a:off x="3383280" y="1783080"/>
            <a:ext cx="2514600" cy="777240"/>
          </a:xfrm>
          <a:prstGeom prst="roundRect">
            <a:avLst>
              <a:gd name="adj" fmla="val 14118"/>
            </a:avLst>
          </a:prstGeom>
          <a:solidFill>
            <a:srgbClr val="111C2E"/>
          </a:solidFill>
          <a:ln w="12700">
            <a:solidFill>
              <a:srgbClr val="1F6FEB"/>
            </a:solidFill>
            <a:prstDash val="solid"/>
          </a:ln>
        </p:spPr>
      </p:sp>
      <p:sp>
        <p:nvSpPr>
          <p:cNvPr id="10" name="Shape 7"/>
          <p:cNvSpPr/>
          <p:nvPr/>
        </p:nvSpPr>
        <p:spPr>
          <a:xfrm>
            <a:off x="3520440" y="1892808"/>
            <a:ext cx="548640" cy="548640"/>
          </a:xfrm>
          <a:prstGeom prst="roundRect">
            <a:avLst>
              <a:gd name="adj" fmla="val 16667"/>
            </a:avLst>
          </a:prstGeom>
          <a:solidFill>
            <a:srgbClr val="79C0FF">
              <a:alpha val="18000"/>
            </a:srgbClr>
          </a:solidFill>
          <a:ln w="12700">
            <a:solidFill>
              <a:srgbClr val="79C0FF"/>
            </a:solidFill>
            <a:prstDash val="solid"/>
          </a:ln>
        </p:spPr>
      </p:sp>
      <p:pic>
        <p:nvPicPr>
          <p:cNvPr id="11" name="Image 1" descr="preencoded.png">    </p:cNvPr>
          <p:cNvPicPr>
            <a:picLocks noChangeAspect="1"/>
          </p:cNvPicPr>
          <p:nvPr/>
        </p:nvPicPr>
        <p:blipFill>
          <a:blip r:embed="rId2"/>
          <a:stretch>
            <a:fillRect/>
          </a:stretch>
        </p:blipFill>
        <p:spPr>
          <a:xfrm>
            <a:off x="3641141" y="2013509"/>
            <a:ext cx="307238" cy="307238"/>
          </a:xfrm>
          <a:prstGeom prst="rect">
            <a:avLst/>
          </a:prstGeom>
        </p:spPr>
      </p:pic>
      <p:sp>
        <p:nvSpPr>
          <p:cNvPr id="12" name="Text 8"/>
          <p:cNvSpPr txBox="1"/>
          <p:nvPr/>
        </p:nvSpPr>
        <p:spPr>
          <a:xfrm>
            <a:off x="4206240" y="1783080"/>
            <a:ext cx="1645920" cy="777240"/>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Host discovery</a:t>
            </a:r>
            <a:endParaRPr lang="en-US" sz="1600" dirty="0"/>
          </a:p>
        </p:txBody>
      </p:sp>
      <p:sp>
        <p:nvSpPr>
          <p:cNvPr id="13" name="Text 9"/>
          <p:cNvSpPr txBox="1"/>
          <p:nvPr/>
        </p:nvSpPr>
        <p:spPr>
          <a:xfrm>
            <a:off x="5897880" y="1783080"/>
            <a:ext cx="320040" cy="777240"/>
          </a:xfrm>
          <a:prstGeom prst="rect">
            <a:avLst/>
          </a:prstGeom>
          <a:noFill/>
          <a:ln/>
        </p:spPr>
        <p:txBody>
          <a:bodyPr wrap="square" lIns="0" tIns="0" rIns="0" bIns="0" rtlCol="0" anchor="ctr"/>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14" name="Shape 10"/>
          <p:cNvSpPr/>
          <p:nvPr/>
        </p:nvSpPr>
        <p:spPr>
          <a:xfrm>
            <a:off x="6217920" y="1783080"/>
            <a:ext cx="2514600" cy="777240"/>
          </a:xfrm>
          <a:prstGeom prst="roundRect">
            <a:avLst>
              <a:gd name="adj" fmla="val 14118"/>
            </a:avLst>
          </a:prstGeom>
          <a:solidFill>
            <a:srgbClr val="111C2E"/>
          </a:solidFill>
          <a:ln w="12700">
            <a:solidFill>
              <a:srgbClr val="1F6FEB"/>
            </a:solidFill>
            <a:prstDash val="solid"/>
          </a:ln>
        </p:spPr>
      </p:sp>
      <p:sp>
        <p:nvSpPr>
          <p:cNvPr id="15" name="Shape 11"/>
          <p:cNvSpPr/>
          <p:nvPr/>
        </p:nvSpPr>
        <p:spPr>
          <a:xfrm>
            <a:off x="6355080" y="1892808"/>
            <a:ext cx="548640" cy="548640"/>
          </a:xfrm>
          <a:prstGeom prst="roundRect">
            <a:avLst>
              <a:gd name="adj" fmla="val 16667"/>
            </a:avLst>
          </a:prstGeom>
          <a:solidFill>
            <a:srgbClr val="79C0FF">
              <a:alpha val="18000"/>
            </a:srgbClr>
          </a:solidFill>
          <a:ln w="12700">
            <a:solidFill>
              <a:srgbClr val="79C0FF"/>
            </a:solidFill>
            <a:prstDash val="solid"/>
          </a:ln>
        </p:spPr>
      </p:sp>
      <p:pic>
        <p:nvPicPr>
          <p:cNvPr id="16" name="Image 2" descr="preencoded.png">    </p:cNvPr>
          <p:cNvPicPr>
            <a:picLocks noChangeAspect="1"/>
          </p:cNvPicPr>
          <p:nvPr/>
        </p:nvPicPr>
        <p:blipFill>
          <a:blip r:embed="rId3"/>
          <a:stretch>
            <a:fillRect/>
          </a:stretch>
        </p:blipFill>
        <p:spPr>
          <a:xfrm>
            <a:off x="6475781" y="2013509"/>
            <a:ext cx="307238" cy="307238"/>
          </a:xfrm>
          <a:prstGeom prst="rect">
            <a:avLst/>
          </a:prstGeom>
        </p:spPr>
      </p:pic>
      <p:sp>
        <p:nvSpPr>
          <p:cNvPr id="17" name="Text 12"/>
          <p:cNvSpPr txBox="1"/>
          <p:nvPr/>
        </p:nvSpPr>
        <p:spPr>
          <a:xfrm>
            <a:off x="7040880" y="1783080"/>
            <a:ext cx="1645920" cy="777240"/>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Best model</a:t>
            </a:r>
            <a:endParaRPr lang="en-US" sz="1600" dirty="0"/>
          </a:p>
        </p:txBody>
      </p:sp>
      <p:sp>
        <p:nvSpPr>
          <p:cNvPr id="18" name="Text 13"/>
          <p:cNvSpPr txBox="1"/>
          <p:nvPr/>
        </p:nvSpPr>
        <p:spPr>
          <a:xfrm>
            <a:off x="8732520" y="1783080"/>
            <a:ext cx="320040" cy="777240"/>
          </a:xfrm>
          <a:prstGeom prst="rect">
            <a:avLst/>
          </a:prstGeom>
          <a:noFill/>
          <a:ln/>
        </p:spPr>
        <p:txBody>
          <a:bodyPr wrap="square" lIns="0" tIns="0" rIns="0" bIns="0" rtlCol="0" anchor="ctr"/>
          <a:lstStyle/>
          <a:p>
            <a:pPr algn="ctr" indent="0" marL="0">
              <a:buNone/>
            </a:pPr>
            <a:r>
              <a:rPr lang="en-US" sz="2600" b="1" dirty="0">
                <a:solidFill>
                  <a:srgbClr val="8B949E"/>
                </a:solidFill>
                <a:latin typeface="Calibri" pitchFamily="34" charset="0"/>
                <a:ea typeface="Calibri" pitchFamily="34" charset="-122"/>
                <a:cs typeface="Calibri" pitchFamily="34" charset="-120"/>
              </a:rPr>
              <a:t>›</a:t>
            </a:r>
            <a:endParaRPr lang="en-US" sz="2600" dirty="0"/>
          </a:p>
        </p:txBody>
      </p:sp>
      <p:sp>
        <p:nvSpPr>
          <p:cNvPr id="19" name="Shape 14"/>
          <p:cNvSpPr/>
          <p:nvPr/>
        </p:nvSpPr>
        <p:spPr>
          <a:xfrm>
            <a:off x="9052560" y="1783080"/>
            <a:ext cx="2514600" cy="777240"/>
          </a:xfrm>
          <a:prstGeom prst="roundRect">
            <a:avLst>
              <a:gd name="adj" fmla="val 14118"/>
            </a:avLst>
          </a:prstGeom>
          <a:solidFill>
            <a:srgbClr val="111C2E"/>
          </a:solidFill>
          <a:ln w="12700">
            <a:solidFill>
              <a:srgbClr val="1F6FEB"/>
            </a:solidFill>
            <a:prstDash val="solid"/>
          </a:ln>
        </p:spPr>
      </p:sp>
      <p:sp>
        <p:nvSpPr>
          <p:cNvPr id="20" name="Shape 15"/>
          <p:cNvSpPr/>
          <p:nvPr/>
        </p:nvSpPr>
        <p:spPr>
          <a:xfrm>
            <a:off x="9189720" y="1892808"/>
            <a:ext cx="548640" cy="548640"/>
          </a:xfrm>
          <a:prstGeom prst="roundRect">
            <a:avLst>
              <a:gd name="adj" fmla="val 16667"/>
            </a:avLst>
          </a:prstGeom>
          <a:solidFill>
            <a:srgbClr val="79C0FF">
              <a:alpha val="18000"/>
            </a:srgbClr>
          </a:solidFill>
          <a:ln w="12700">
            <a:solidFill>
              <a:srgbClr val="79C0FF"/>
            </a:solidFill>
            <a:prstDash val="solid"/>
          </a:ln>
        </p:spPr>
      </p:sp>
      <p:pic>
        <p:nvPicPr>
          <p:cNvPr id="21" name="Image 3" descr="preencoded.png">    </p:cNvPr>
          <p:cNvPicPr>
            <a:picLocks noChangeAspect="1"/>
          </p:cNvPicPr>
          <p:nvPr/>
        </p:nvPicPr>
        <p:blipFill>
          <a:blip r:embed="rId4"/>
          <a:stretch>
            <a:fillRect/>
          </a:stretch>
        </p:blipFill>
        <p:spPr>
          <a:xfrm>
            <a:off x="9310421" y="2013509"/>
            <a:ext cx="307238" cy="307238"/>
          </a:xfrm>
          <a:prstGeom prst="rect">
            <a:avLst/>
          </a:prstGeom>
        </p:spPr>
      </p:pic>
      <p:sp>
        <p:nvSpPr>
          <p:cNvPr id="22" name="Text 16"/>
          <p:cNvSpPr txBox="1"/>
          <p:nvPr/>
        </p:nvSpPr>
        <p:spPr>
          <a:xfrm>
            <a:off x="9875520" y="1783080"/>
            <a:ext cx="1645920" cy="777240"/>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Provider rules</a:t>
            </a:r>
            <a:endParaRPr lang="en-US" sz="1600" dirty="0"/>
          </a:p>
        </p:txBody>
      </p:sp>
      <p:sp>
        <p:nvSpPr>
          <p:cNvPr id="23" name="Shape 17"/>
          <p:cNvSpPr/>
          <p:nvPr/>
        </p:nvSpPr>
        <p:spPr>
          <a:xfrm>
            <a:off x="548640" y="2834640"/>
            <a:ext cx="11064240" cy="896112"/>
          </a:xfrm>
          <a:prstGeom prst="roundRect">
            <a:avLst>
              <a:gd name="adj" fmla="val 12245"/>
            </a:avLst>
          </a:prstGeom>
          <a:solidFill>
            <a:srgbClr val="111C2E"/>
          </a:solidFill>
          <a:ln w="12700">
            <a:solidFill>
              <a:srgbClr val="58A6FF"/>
            </a:solidFill>
            <a:prstDash val="solid"/>
          </a:ln>
        </p:spPr>
      </p:sp>
      <p:sp>
        <p:nvSpPr>
          <p:cNvPr id="24" name="Text 18"/>
          <p:cNvSpPr txBox="1"/>
          <p:nvPr/>
        </p:nvSpPr>
        <p:spPr>
          <a:xfrm>
            <a:off x="777240" y="2834640"/>
            <a:ext cx="1645920" cy="896112"/>
          </a:xfrm>
          <a:prstGeom prst="rect">
            <a:avLst/>
          </a:prstGeom>
          <a:noFill/>
          <a:ln/>
        </p:spPr>
        <p:txBody>
          <a:bodyPr wrap="square" lIns="0" tIns="0" rIns="0" bIns="0" rtlCol="0" anchor="ctr"/>
          <a:lstStyle/>
          <a:p>
            <a:pPr indent="0" marL="0">
              <a:buNone/>
            </a:pPr>
            <a:r>
              <a:rPr lang="en-US" sz="2000" b="1" dirty="0">
                <a:solidFill>
                  <a:srgbClr val="58A6FF"/>
                </a:solidFill>
                <a:latin typeface="Arial" pitchFamily="34" charset="0"/>
                <a:ea typeface="Arial" pitchFamily="34" charset="-122"/>
                <a:cs typeface="Arial" pitchFamily="34" charset="-120"/>
              </a:rPr>
              <a:t>DeepSeek</a:t>
            </a:r>
            <a:endParaRPr lang="en-US" sz="2000" dirty="0"/>
          </a:p>
        </p:txBody>
      </p:sp>
      <p:sp>
        <p:nvSpPr>
          <p:cNvPr id="25" name="Text 19"/>
          <p:cNvSpPr txBox="1"/>
          <p:nvPr/>
        </p:nvSpPr>
        <p:spPr>
          <a:xfrm>
            <a:off x="2468880" y="2944368"/>
            <a:ext cx="8961120" cy="36576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api.deepseek.com · deepseek-flash (V4.1) / v4-pro</a:t>
            </a:r>
            <a:endParaRPr lang="en-US" sz="1400" dirty="0"/>
          </a:p>
        </p:txBody>
      </p:sp>
      <p:sp>
        <p:nvSpPr>
          <p:cNvPr id="26" name="Text 20"/>
          <p:cNvSpPr txBox="1"/>
          <p:nvPr/>
        </p:nvSpPr>
        <p:spPr>
          <a:xfrm>
            <a:off x="2468880" y="3291840"/>
            <a:ext cx="8961120" cy="384048"/>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Thinking enabled; reasoning_content passed back every turn (the API rejects the 2nd turn otherwise)</a:t>
            </a:r>
            <a:endParaRPr lang="en-US" sz="1300" dirty="0"/>
          </a:p>
        </p:txBody>
      </p:sp>
      <p:sp>
        <p:nvSpPr>
          <p:cNvPr id="27" name="Shape 21"/>
          <p:cNvSpPr/>
          <p:nvPr/>
        </p:nvSpPr>
        <p:spPr>
          <a:xfrm>
            <a:off x="548640" y="3840480"/>
            <a:ext cx="11064240" cy="896112"/>
          </a:xfrm>
          <a:prstGeom prst="roundRect">
            <a:avLst>
              <a:gd name="adj" fmla="val 12245"/>
            </a:avLst>
          </a:prstGeom>
          <a:solidFill>
            <a:srgbClr val="111C2E"/>
          </a:solidFill>
          <a:ln w="12700">
            <a:solidFill>
              <a:srgbClr val="F0B429"/>
            </a:solidFill>
            <a:prstDash val="solid"/>
          </a:ln>
        </p:spPr>
      </p:sp>
      <p:sp>
        <p:nvSpPr>
          <p:cNvPr id="28" name="Text 22"/>
          <p:cNvSpPr txBox="1"/>
          <p:nvPr/>
        </p:nvSpPr>
        <p:spPr>
          <a:xfrm>
            <a:off x="777240" y="3840480"/>
            <a:ext cx="1645920" cy="896112"/>
          </a:xfrm>
          <a:prstGeom prst="rect">
            <a:avLst/>
          </a:prstGeom>
          <a:noFill/>
          <a:ln/>
        </p:spPr>
        <p:txBody>
          <a:bodyPr wrap="square" lIns="0" tIns="0" rIns="0" bIns="0" rtlCol="0" anchor="ctr"/>
          <a:lstStyle/>
          <a:p>
            <a:pPr indent="0" marL="0">
              <a:buNone/>
            </a:pPr>
            <a:r>
              <a:rPr lang="en-US" sz="2000" b="1" dirty="0">
                <a:solidFill>
                  <a:srgbClr val="F0B429"/>
                </a:solidFill>
                <a:latin typeface="Arial" pitchFamily="34" charset="0"/>
                <a:ea typeface="Arial" pitchFamily="34" charset="-122"/>
                <a:cs typeface="Arial" pitchFamily="34" charset="-120"/>
              </a:rPr>
              <a:t>Qwen</a:t>
            </a:r>
            <a:endParaRPr lang="en-US" sz="2000" dirty="0"/>
          </a:p>
        </p:txBody>
      </p:sp>
      <p:sp>
        <p:nvSpPr>
          <p:cNvPr id="29" name="Text 23"/>
          <p:cNvSpPr txBox="1"/>
          <p:nvPr/>
        </p:nvSpPr>
        <p:spPr>
          <a:xfrm>
            <a:off x="2468880" y="3950208"/>
            <a:ext cx="8961120" cy="36576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Alibaba DashScope · 4 regions probed · qwen3.8-max / coder</a:t>
            </a:r>
            <a:endParaRPr lang="en-US" sz="1400" dirty="0"/>
          </a:p>
        </p:txBody>
      </p:sp>
      <p:sp>
        <p:nvSpPr>
          <p:cNvPr id="30" name="Text 24"/>
          <p:cNvSpPr txBox="1"/>
          <p:nvPr/>
        </p:nvSpPr>
        <p:spPr>
          <a:xfrm>
            <a:off x="2468880" y="4297680"/>
            <a:ext cx="8961120" cy="384048"/>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enable_thinking errors learned &amp; fixed on the first call; Qwen’s recommended sampling</a:t>
            </a:r>
            <a:endParaRPr lang="en-US" sz="1300" dirty="0"/>
          </a:p>
        </p:txBody>
      </p:sp>
      <p:sp>
        <p:nvSpPr>
          <p:cNvPr id="31" name="Shape 25"/>
          <p:cNvSpPr/>
          <p:nvPr/>
        </p:nvSpPr>
        <p:spPr>
          <a:xfrm>
            <a:off x="548640" y="4846320"/>
            <a:ext cx="11064240" cy="896112"/>
          </a:xfrm>
          <a:prstGeom prst="roundRect">
            <a:avLst>
              <a:gd name="adj" fmla="val 12245"/>
            </a:avLst>
          </a:prstGeom>
          <a:solidFill>
            <a:srgbClr val="111C2E"/>
          </a:solidFill>
          <a:ln w="12700">
            <a:solidFill>
              <a:srgbClr val="3FB950"/>
            </a:solidFill>
            <a:prstDash val="solid"/>
          </a:ln>
        </p:spPr>
      </p:sp>
      <p:sp>
        <p:nvSpPr>
          <p:cNvPr id="32" name="Text 26"/>
          <p:cNvSpPr txBox="1"/>
          <p:nvPr/>
        </p:nvSpPr>
        <p:spPr>
          <a:xfrm>
            <a:off x="777240" y="4846320"/>
            <a:ext cx="1645920" cy="896112"/>
          </a:xfrm>
          <a:prstGeom prst="rect">
            <a:avLst/>
          </a:prstGeom>
          <a:noFill/>
          <a:ln/>
        </p:spPr>
        <p:txBody>
          <a:bodyPr wrap="square" lIns="0" tIns="0" rIns="0" bIns="0" rtlCol="0" anchor="ctr"/>
          <a:lstStyle/>
          <a:p>
            <a:pPr indent="0" marL="0">
              <a:buNone/>
            </a:pPr>
            <a:r>
              <a:rPr lang="en-US" sz="2000" b="1" dirty="0">
                <a:solidFill>
                  <a:srgbClr val="3FB950"/>
                </a:solidFill>
                <a:latin typeface="Arial" pitchFamily="34" charset="0"/>
                <a:ea typeface="Arial" pitchFamily="34" charset="-122"/>
                <a:cs typeface="Arial" pitchFamily="34" charset="-120"/>
              </a:rPr>
              <a:t>Any host</a:t>
            </a:r>
            <a:endParaRPr lang="en-US" sz="2000" dirty="0"/>
          </a:p>
        </p:txBody>
      </p:sp>
      <p:sp>
        <p:nvSpPr>
          <p:cNvPr id="33" name="Text 27"/>
          <p:cNvSpPr txBox="1"/>
          <p:nvPr/>
        </p:nvSpPr>
        <p:spPr>
          <a:xfrm>
            <a:off x="2468880" y="4956048"/>
            <a:ext cx="8961120" cy="36576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OpenRouter · Groq · SiliconFlow · Together · …</a:t>
            </a:r>
            <a:endParaRPr lang="en-US" sz="1400" dirty="0"/>
          </a:p>
        </p:txBody>
      </p:sp>
      <p:sp>
        <p:nvSpPr>
          <p:cNvPr id="34" name="Text 28"/>
          <p:cNvSpPr txBox="1"/>
          <p:nvPr/>
        </p:nvSpPr>
        <p:spPr>
          <a:xfrm>
            <a:off x="2468880" y="5303520"/>
            <a:ext cx="8961120" cy="384048"/>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Tool calls leaked into text (Qwen XML, DeepSeek DSML) parsed; malformed args repaired</a:t>
            </a:r>
            <a:endParaRPr lang="en-US" sz="1300" dirty="0"/>
          </a:p>
        </p:txBody>
      </p:sp>
      <p:sp>
        <p:nvSpPr>
          <p:cNvPr id="35" name="Text 29"/>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i="1" dirty="0">
                <a:solidFill>
                  <a:srgbClr val="8B949E"/>
                </a:solidFill>
                <a:latin typeface="Calibri" pitchFamily="34" charset="0"/>
                <a:ea typeface="Calibri" pitchFamily="34" charset="-122"/>
                <a:cs typeface="Calibri" pitchFamily="34" charset="-120"/>
              </a:rPr>
              <a:t>Tested: live host discovery with a real DeepSeek key · full runs against fake servers that enforce the real DeepSeek and Qwen API rules</a:t>
            </a:r>
            <a:endParaRPr lang="en-US" sz="1200" dirty="0"/>
          </a:p>
        </p:txBody>
      </p:sp>
      <p:sp>
        <p:nvSpPr>
          <p:cNvPr id="36" name="Text 30"/>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37" name="Text 31"/>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Efficient — and it proves it</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Every run writes telemetry.jsonl + telemetry_summary.json. No black box.</a:t>
            </a:r>
            <a:endParaRPr lang="en-US" sz="1600" dirty="0"/>
          </a:p>
        </p:txBody>
      </p:sp>
      <p:sp>
        <p:nvSpPr>
          <p:cNvPr id="4" name="Shape 2"/>
          <p:cNvSpPr/>
          <p:nvPr/>
        </p:nvSpPr>
        <p:spPr>
          <a:xfrm>
            <a:off x="548640" y="1783080"/>
            <a:ext cx="5120640" cy="4434840"/>
          </a:xfrm>
          <a:prstGeom prst="roundRect">
            <a:avLst>
              <a:gd name="adj" fmla="val 2474"/>
            </a:avLst>
          </a:prstGeom>
          <a:solidFill>
            <a:srgbClr val="0A1424"/>
          </a:solidFill>
          <a:ln w="12700">
            <a:solidFill>
              <a:srgbClr val="1F6FEB"/>
            </a:solidFill>
            <a:prstDash val="solid"/>
          </a:ln>
          <a:effectLst>
            <a:outerShdw sx="100000" sy="100000" kx="0" ky="0" algn="bl" rotWithShape="0" blurRad="152400" dist="50800" dir="5400000">
              <a:srgbClr val="000000">
                <a:alpha val="45000"/>
              </a:srgbClr>
            </a:outerShdw>
          </a:effectLst>
        </p:spPr>
      </p:sp>
      <p:sp>
        <p:nvSpPr>
          <p:cNvPr id="5" name="Text 3"/>
          <p:cNvSpPr txBox="1"/>
          <p:nvPr/>
        </p:nvSpPr>
        <p:spPr>
          <a:xfrm>
            <a:off x="822960" y="1965960"/>
            <a:ext cx="4572000" cy="457200"/>
          </a:xfrm>
          <a:prstGeom prst="rect">
            <a:avLst/>
          </a:prstGeom>
          <a:noFill/>
          <a:ln/>
        </p:spPr>
        <p:txBody>
          <a:bodyPr wrap="square" lIns="0" tIns="0" rIns="0" bIns="0" rtlCol="0" anchor="ctr"/>
          <a:lstStyle/>
          <a:p>
            <a:pPr algn="ctr" indent="0" marL="0">
              <a:buNone/>
            </a:pPr>
            <a:r>
              <a:rPr lang="en-US" sz="1800" b="1" dirty="0">
                <a:solidFill>
                  <a:srgbClr val="3FB950"/>
                </a:solidFill>
                <a:latin typeface="Courier New" pitchFamily="34" charset="0"/>
                <a:ea typeface="Courier New" pitchFamily="34" charset="-122"/>
                <a:cs typeface="Courier New" pitchFamily="34" charset="-120"/>
              </a:rPr>
              <a:t>AGENT EXECUTION</a:t>
            </a:r>
            <a:endParaRPr lang="en-US" sz="1800" dirty="0"/>
          </a:p>
        </p:txBody>
      </p:sp>
      <p:sp>
        <p:nvSpPr>
          <p:cNvPr id="6" name="Shape 4"/>
          <p:cNvSpPr/>
          <p:nvPr/>
        </p:nvSpPr>
        <p:spPr>
          <a:xfrm>
            <a:off x="822960" y="2487168"/>
            <a:ext cx="4572000" cy="0"/>
          </a:xfrm>
          <a:prstGeom prst="line">
            <a:avLst/>
          </a:prstGeom>
          <a:noFill/>
          <a:ln w="12700">
            <a:solidFill>
              <a:srgbClr val="3FB950"/>
            </a:solidFill>
            <a:prstDash val="solid"/>
          </a:ln>
        </p:spPr>
      </p:sp>
      <p:sp>
        <p:nvSpPr>
          <p:cNvPr id="7" name="Text 5"/>
          <p:cNvSpPr txBox="1"/>
          <p:nvPr/>
        </p:nvSpPr>
        <p:spPr>
          <a:xfrm>
            <a:off x="868680" y="2606040"/>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Task type</a:t>
            </a:r>
            <a:endParaRPr lang="en-US" sz="1500" dirty="0"/>
          </a:p>
        </p:txBody>
      </p:sp>
      <p:sp>
        <p:nvSpPr>
          <p:cNvPr id="8" name="Text 6"/>
          <p:cNvSpPr txBox="1"/>
          <p:nvPr/>
        </p:nvSpPr>
        <p:spPr>
          <a:xfrm>
            <a:off x="3749040" y="2606040"/>
            <a:ext cx="1600200" cy="365760"/>
          </a:xfrm>
          <a:prstGeom prst="rect">
            <a:avLst/>
          </a:prstGeom>
          <a:noFill/>
          <a:ln/>
        </p:spPr>
        <p:txBody>
          <a:bodyPr wrap="square" lIns="0" tIns="0" rIns="0" bIns="0" rtlCol="0" anchor="ctr"/>
          <a:lstStyle/>
          <a:p>
            <a:pPr algn="r" indent="0" marL="0">
              <a:buNone/>
            </a:pPr>
            <a:r>
              <a:rPr lang="en-US" sz="1500" b="1" dirty="0">
                <a:solidFill>
                  <a:srgbClr val="79C0FF"/>
                </a:solidFill>
                <a:latin typeface="Courier New" pitchFamily="34" charset="0"/>
                <a:ea typeface="Courier New" pitchFamily="34" charset="-122"/>
                <a:cs typeface="Courier New" pitchFamily="34" charset="-120"/>
              </a:rPr>
              <a:t>bug</a:t>
            </a:r>
            <a:endParaRPr lang="en-US" sz="1500" dirty="0"/>
          </a:p>
        </p:txBody>
      </p:sp>
      <p:sp>
        <p:nvSpPr>
          <p:cNvPr id="9" name="Text 7"/>
          <p:cNvSpPr txBox="1"/>
          <p:nvPr/>
        </p:nvSpPr>
        <p:spPr>
          <a:xfrm>
            <a:off x="868680" y="2990088"/>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Model calls</a:t>
            </a:r>
            <a:endParaRPr lang="en-US" sz="1500" dirty="0"/>
          </a:p>
        </p:txBody>
      </p:sp>
      <p:sp>
        <p:nvSpPr>
          <p:cNvPr id="10" name="Text 8"/>
          <p:cNvSpPr txBox="1"/>
          <p:nvPr/>
        </p:nvSpPr>
        <p:spPr>
          <a:xfrm>
            <a:off x="3749040" y="2990088"/>
            <a:ext cx="1600200" cy="365760"/>
          </a:xfrm>
          <a:prstGeom prst="rect">
            <a:avLst/>
          </a:prstGeom>
          <a:noFill/>
          <a:ln/>
        </p:spPr>
        <p:txBody>
          <a:bodyPr wrap="square" lIns="0" tIns="0" rIns="0" bIns="0" rtlCol="0" anchor="ctr"/>
          <a:lstStyle/>
          <a:p>
            <a:pPr algn="r" indent="0" marL="0">
              <a:buNone/>
            </a:pPr>
            <a:r>
              <a:rPr lang="en-US" sz="1500" b="1" dirty="0">
                <a:solidFill>
                  <a:srgbClr val="79C0FF"/>
                </a:solidFill>
                <a:latin typeface="Courier New" pitchFamily="34" charset="0"/>
                <a:ea typeface="Courier New" pitchFamily="34" charset="-122"/>
                <a:cs typeface="Courier New" pitchFamily="34" charset="-120"/>
              </a:rPr>
              <a:t>11</a:t>
            </a:r>
            <a:endParaRPr lang="en-US" sz="1500" dirty="0"/>
          </a:p>
        </p:txBody>
      </p:sp>
      <p:sp>
        <p:nvSpPr>
          <p:cNvPr id="11" name="Text 9"/>
          <p:cNvSpPr txBox="1"/>
          <p:nvPr/>
        </p:nvSpPr>
        <p:spPr>
          <a:xfrm>
            <a:off x="868680" y="3374136"/>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Tool calls</a:t>
            </a:r>
            <a:endParaRPr lang="en-US" sz="1500" dirty="0"/>
          </a:p>
        </p:txBody>
      </p:sp>
      <p:sp>
        <p:nvSpPr>
          <p:cNvPr id="12" name="Text 10"/>
          <p:cNvSpPr txBox="1"/>
          <p:nvPr/>
        </p:nvSpPr>
        <p:spPr>
          <a:xfrm>
            <a:off x="3749040" y="3374136"/>
            <a:ext cx="1600200" cy="365760"/>
          </a:xfrm>
          <a:prstGeom prst="rect">
            <a:avLst/>
          </a:prstGeom>
          <a:noFill/>
          <a:ln/>
        </p:spPr>
        <p:txBody>
          <a:bodyPr wrap="square" lIns="0" tIns="0" rIns="0" bIns="0" rtlCol="0" anchor="ctr"/>
          <a:lstStyle/>
          <a:p>
            <a:pPr algn="r" indent="0" marL="0">
              <a:buNone/>
            </a:pPr>
            <a:r>
              <a:rPr lang="en-US" sz="1500" b="1" dirty="0">
                <a:solidFill>
                  <a:srgbClr val="79C0FF"/>
                </a:solidFill>
                <a:latin typeface="Courier New" pitchFamily="34" charset="0"/>
                <a:ea typeface="Courier New" pitchFamily="34" charset="-122"/>
                <a:cs typeface="Courier New" pitchFamily="34" charset="-120"/>
              </a:rPr>
              <a:t>11</a:t>
            </a:r>
            <a:endParaRPr lang="en-US" sz="1500" dirty="0"/>
          </a:p>
        </p:txBody>
      </p:sp>
      <p:sp>
        <p:nvSpPr>
          <p:cNvPr id="13" name="Text 11"/>
          <p:cNvSpPr txBox="1"/>
          <p:nvPr/>
        </p:nvSpPr>
        <p:spPr>
          <a:xfrm>
            <a:off x="868680" y="3758184"/>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Files changed</a:t>
            </a:r>
            <a:endParaRPr lang="en-US" sz="1500" dirty="0"/>
          </a:p>
        </p:txBody>
      </p:sp>
      <p:sp>
        <p:nvSpPr>
          <p:cNvPr id="14" name="Text 12"/>
          <p:cNvSpPr txBox="1"/>
          <p:nvPr/>
        </p:nvSpPr>
        <p:spPr>
          <a:xfrm>
            <a:off x="3749040" y="3758184"/>
            <a:ext cx="1600200" cy="365760"/>
          </a:xfrm>
          <a:prstGeom prst="rect">
            <a:avLst/>
          </a:prstGeom>
          <a:noFill/>
          <a:ln/>
        </p:spPr>
        <p:txBody>
          <a:bodyPr wrap="square" lIns="0" tIns="0" rIns="0" bIns="0" rtlCol="0" anchor="ctr"/>
          <a:lstStyle/>
          <a:p>
            <a:pPr algn="r" indent="0" marL="0">
              <a:buNone/>
            </a:pPr>
            <a:r>
              <a:rPr lang="en-US" sz="1500" b="1" dirty="0">
                <a:solidFill>
                  <a:srgbClr val="79C0FF"/>
                </a:solidFill>
                <a:latin typeface="Courier New" pitchFamily="34" charset="0"/>
                <a:ea typeface="Courier New" pitchFamily="34" charset="-122"/>
                <a:cs typeface="Courier New" pitchFamily="34" charset="-120"/>
              </a:rPr>
              <a:t>1</a:t>
            </a:r>
            <a:endParaRPr lang="en-US" sz="1500" dirty="0"/>
          </a:p>
        </p:txBody>
      </p:sp>
      <p:sp>
        <p:nvSpPr>
          <p:cNvPr id="15" name="Text 13"/>
          <p:cNvSpPr txBox="1"/>
          <p:nvPr/>
        </p:nvSpPr>
        <p:spPr>
          <a:xfrm>
            <a:off x="868680" y="4142232"/>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Failures</a:t>
            </a:r>
            <a:endParaRPr lang="en-US" sz="1500" dirty="0"/>
          </a:p>
        </p:txBody>
      </p:sp>
      <p:sp>
        <p:nvSpPr>
          <p:cNvPr id="16" name="Text 14"/>
          <p:cNvSpPr txBox="1"/>
          <p:nvPr/>
        </p:nvSpPr>
        <p:spPr>
          <a:xfrm>
            <a:off x="3749040" y="4142232"/>
            <a:ext cx="1600200" cy="365760"/>
          </a:xfrm>
          <a:prstGeom prst="rect">
            <a:avLst/>
          </a:prstGeom>
          <a:noFill/>
          <a:ln/>
        </p:spPr>
        <p:txBody>
          <a:bodyPr wrap="square" lIns="0" tIns="0" rIns="0" bIns="0" rtlCol="0" anchor="ctr"/>
          <a:lstStyle/>
          <a:p>
            <a:pPr algn="r" indent="0" marL="0">
              <a:buNone/>
            </a:pPr>
            <a:r>
              <a:rPr lang="en-US" sz="1500" b="1" dirty="0">
                <a:solidFill>
                  <a:srgbClr val="79C0FF"/>
                </a:solidFill>
                <a:latin typeface="Courier New" pitchFamily="34" charset="0"/>
                <a:ea typeface="Courier New" pitchFamily="34" charset="-122"/>
                <a:cs typeface="Courier New" pitchFamily="34" charset="-120"/>
              </a:rPr>
              <a:t>1</a:t>
            </a:r>
            <a:endParaRPr lang="en-US" sz="1500" dirty="0"/>
          </a:p>
        </p:txBody>
      </p:sp>
      <p:sp>
        <p:nvSpPr>
          <p:cNvPr id="17" name="Text 15"/>
          <p:cNvSpPr txBox="1"/>
          <p:nvPr/>
        </p:nvSpPr>
        <p:spPr>
          <a:xfrm>
            <a:off x="868680" y="4526280"/>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Recovery events</a:t>
            </a:r>
            <a:endParaRPr lang="en-US" sz="1500" dirty="0"/>
          </a:p>
        </p:txBody>
      </p:sp>
      <p:sp>
        <p:nvSpPr>
          <p:cNvPr id="18" name="Text 16"/>
          <p:cNvSpPr txBox="1"/>
          <p:nvPr/>
        </p:nvSpPr>
        <p:spPr>
          <a:xfrm>
            <a:off x="3749040" y="4526280"/>
            <a:ext cx="1600200" cy="365760"/>
          </a:xfrm>
          <a:prstGeom prst="rect">
            <a:avLst/>
          </a:prstGeom>
          <a:noFill/>
          <a:ln/>
        </p:spPr>
        <p:txBody>
          <a:bodyPr wrap="square" lIns="0" tIns="0" rIns="0" bIns="0" rtlCol="0" anchor="ctr"/>
          <a:lstStyle/>
          <a:p>
            <a:pPr algn="r" indent="0" marL="0">
              <a:buNone/>
            </a:pPr>
            <a:r>
              <a:rPr lang="en-US" sz="1500" b="1" dirty="0">
                <a:solidFill>
                  <a:srgbClr val="79C0FF"/>
                </a:solidFill>
                <a:latin typeface="Courier New" pitchFamily="34" charset="0"/>
                <a:ea typeface="Courier New" pitchFamily="34" charset="-122"/>
                <a:cs typeface="Courier New" pitchFamily="34" charset="-120"/>
              </a:rPr>
              <a:t>1</a:t>
            </a:r>
            <a:endParaRPr lang="en-US" sz="1500" dirty="0"/>
          </a:p>
        </p:txBody>
      </p:sp>
      <p:sp>
        <p:nvSpPr>
          <p:cNvPr id="19" name="Text 17"/>
          <p:cNvSpPr txBox="1"/>
          <p:nvPr/>
        </p:nvSpPr>
        <p:spPr>
          <a:xfrm>
            <a:off x="868680" y="4910328"/>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Verification rounds</a:t>
            </a:r>
            <a:endParaRPr lang="en-US" sz="1500" dirty="0"/>
          </a:p>
        </p:txBody>
      </p:sp>
      <p:sp>
        <p:nvSpPr>
          <p:cNvPr id="20" name="Text 18"/>
          <p:cNvSpPr txBox="1"/>
          <p:nvPr/>
        </p:nvSpPr>
        <p:spPr>
          <a:xfrm>
            <a:off x="3749040" y="4910328"/>
            <a:ext cx="1600200" cy="365760"/>
          </a:xfrm>
          <a:prstGeom prst="rect">
            <a:avLst/>
          </a:prstGeom>
          <a:noFill/>
          <a:ln/>
        </p:spPr>
        <p:txBody>
          <a:bodyPr wrap="square" lIns="0" tIns="0" rIns="0" bIns="0" rtlCol="0" anchor="ctr"/>
          <a:lstStyle/>
          <a:p>
            <a:pPr algn="r" indent="0" marL="0">
              <a:buNone/>
            </a:pPr>
            <a:r>
              <a:rPr lang="en-US" sz="1500" b="1" dirty="0">
                <a:solidFill>
                  <a:srgbClr val="79C0FF"/>
                </a:solidFill>
                <a:latin typeface="Courier New" pitchFamily="34" charset="0"/>
                <a:ea typeface="Courier New" pitchFamily="34" charset="-122"/>
                <a:cs typeface="Courier New" pitchFamily="34" charset="-120"/>
              </a:rPr>
              <a:t>2</a:t>
            </a:r>
            <a:endParaRPr lang="en-US" sz="1500" dirty="0"/>
          </a:p>
        </p:txBody>
      </p:sp>
      <p:sp>
        <p:nvSpPr>
          <p:cNvPr id="21" name="Text 19"/>
          <p:cNvSpPr txBox="1"/>
          <p:nvPr/>
        </p:nvSpPr>
        <p:spPr>
          <a:xfrm>
            <a:off x="868680" y="5294376"/>
            <a:ext cx="2926080" cy="365760"/>
          </a:xfrm>
          <a:prstGeom prst="rect">
            <a:avLst/>
          </a:prstGeom>
          <a:noFill/>
          <a:ln/>
        </p:spPr>
        <p:txBody>
          <a:bodyPr wrap="square" lIns="0" tIns="0" rIns="0" bIns="0" rtlCol="0" anchor="ctr"/>
          <a:lstStyle/>
          <a:p>
            <a:pPr indent="0" marL="0">
              <a:buNone/>
            </a:pPr>
            <a:r>
              <a:rPr lang="en-US" sz="1500" dirty="0">
                <a:solidFill>
                  <a:srgbClr val="E6EDF3"/>
                </a:solidFill>
                <a:latin typeface="Courier New" pitchFamily="34" charset="0"/>
                <a:ea typeface="Courier New" pitchFamily="34" charset="-122"/>
                <a:cs typeface="Courier New" pitchFamily="34" charset="-120"/>
              </a:rPr>
              <a:t>Final status</a:t>
            </a:r>
            <a:endParaRPr lang="en-US" sz="1500" dirty="0"/>
          </a:p>
        </p:txBody>
      </p:sp>
      <p:sp>
        <p:nvSpPr>
          <p:cNvPr id="22" name="Text 20"/>
          <p:cNvSpPr txBox="1"/>
          <p:nvPr/>
        </p:nvSpPr>
        <p:spPr>
          <a:xfrm>
            <a:off x="3749040" y="5294376"/>
            <a:ext cx="1600200" cy="365760"/>
          </a:xfrm>
          <a:prstGeom prst="rect">
            <a:avLst/>
          </a:prstGeom>
          <a:noFill/>
          <a:ln/>
        </p:spPr>
        <p:txBody>
          <a:bodyPr wrap="square" lIns="0" tIns="0" rIns="0" bIns="0" rtlCol="0" anchor="ctr"/>
          <a:lstStyle/>
          <a:p>
            <a:pPr algn="r" indent="0" marL="0">
              <a:buNone/>
            </a:pPr>
            <a:r>
              <a:rPr lang="en-US" sz="1500" b="1" dirty="0">
                <a:solidFill>
                  <a:srgbClr val="3FB950"/>
                </a:solidFill>
                <a:latin typeface="Courier New" pitchFamily="34" charset="0"/>
                <a:ea typeface="Courier New" pitchFamily="34" charset="-122"/>
                <a:cs typeface="Courier New" pitchFamily="34" charset="-120"/>
              </a:rPr>
              <a:t>VERIFIED</a:t>
            </a:r>
            <a:endParaRPr lang="en-US" sz="1500" dirty="0"/>
          </a:p>
        </p:txBody>
      </p:sp>
      <p:sp>
        <p:nvSpPr>
          <p:cNvPr id="23" name="Text 21"/>
          <p:cNvSpPr txBox="1"/>
          <p:nvPr/>
        </p:nvSpPr>
        <p:spPr>
          <a:xfrm>
            <a:off x="777240" y="5806440"/>
            <a:ext cx="4754880" cy="320040"/>
          </a:xfrm>
          <a:prstGeom prst="rect">
            <a:avLst/>
          </a:prstGeom>
          <a:noFill/>
          <a:ln/>
        </p:spPr>
        <p:txBody>
          <a:bodyPr wrap="square" lIns="0" tIns="0" rIns="0" bIns="0" rtlCol="0" anchor="t"/>
          <a:lstStyle/>
          <a:p>
            <a:pPr indent="0" marL="0">
              <a:buNone/>
            </a:pPr>
            <a:r>
              <a:rPr lang="en-US" sz="1100" i="1" dirty="0">
                <a:solidFill>
                  <a:srgbClr val="8B949E"/>
                </a:solidFill>
                <a:latin typeface="Calibri" pitchFamily="34" charset="0"/>
                <a:ea typeface="Calibri" pitchFamily="34" charset="-122"/>
                <a:cs typeface="Calibri" pitchFamily="34" charset="-120"/>
              </a:rPr>
              <a:t>make demo-recovery — failure → recovery → VERIFIED</a:t>
            </a:r>
            <a:endParaRPr lang="en-US" sz="1100" dirty="0"/>
          </a:p>
        </p:txBody>
      </p:sp>
      <p:sp>
        <p:nvSpPr>
          <p:cNvPr id="24" name="Text 22"/>
          <p:cNvSpPr txBox="1"/>
          <p:nvPr/>
        </p:nvSpPr>
        <p:spPr>
          <a:xfrm>
            <a:off x="6035040" y="1783080"/>
            <a:ext cx="5577840" cy="365760"/>
          </a:xfrm>
          <a:prstGeom prst="rect">
            <a:avLst/>
          </a:prstGeom>
          <a:noFill/>
          <a:ln/>
        </p:spPr>
        <p:txBody>
          <a:bodyPr wrap="square" lIns="0" tIns="0" rIns="0" bIns="0" rtlCol="0" anchor="t"/>
          <a:lstStyle/>
          <a:p>
            <a:pPr indent="0" marL="0">
              <a:buNone/>
            </a:pPr>
            <a:r>
              <a:rPr lang="en-US" sz="1500" b="1" dirty="0">
                <a:solidFill>
                  <a:srgbClr val="79C0FF"/>
                </a:solidFill>
                <a:latin typeface="Calibri" pitchFamily="34" charset="0"/>
                <a:ea typeface="Calibri" pitchFamily="34" charset="-122"/>
                <a:cs typeface="Calibri" pitchFamily="34" charset="-120"/>
              </a:rPr>
              <a:t>Live run · real Qwen model · verified fix</a:t>
            </a:r>
            <a:endParaRPr lang="en-US" sz="1500" dirty="0"/>
          </a:p>
        </p:txBody>
      </p:sp>
      <p:sp>
        <p:nvSpPr>
          <p:cNvPr id="25" name="Shape 23"/>
          <p:cNvSpPr/>
          <p:nvPr/>
        </p:nvSpPr>
        <p:spPr>
          <a:xfrm>
            <a:off x="6035040" y="2240280"/>
            <a:ext cx="2651760" cy="1234440"/>
          </a:xfrm>
          <a:prstGeom prst="roundRect">
            <a:avLst>
              <a:gd name="adj" fmla="val 8889"/>
            </a:avLst>
          </a:prstGeom>
          <a:solidFill>
            <a:srgbClr val="111C2E"/>
          </a:solidFill>
          <a:ln w="12700">
            <a:solidFill>
              <a:srgbClr val="30363D"/>
            </a:solidFill>
            <a:prstDash val="solid"/>
          </a:ln>
        </p:spPr>
      </p:sp>
      <p:sp>
        <p:nvSpPr>
          <p:cNvPr id="26" name="Text 24"/>
          <p:cNvSpPr txBox="1"/>
          <p:nvPr/>
        </p:nvSpPr>
        <p:spPr>
          <a:xfrm>
            <a:off x="6263640" y="2331720"/>
            <a:ext cx="2194560" cy="68580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6</a:t>
            </a:r>
            <a:endParaRPr lang="en-US" sz="3600" dirty="0"/>
          </a:p>
        </p:txBody>
      </p:sp>
      <p:sp>
        <p:nvSpPr>
          <p:cNvPr id="27" name="Text 25"/>
          <p:cNvSpPr txBox="1"/>
          <p:nvPr/>
        </p:nvSpPr>
        <p:spPr>
          <a:xfrm>
            <a:off x="6263640" y="3017520"/>
            <a:ext cx="2194560" cy="36576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model calls</a:t>
            </a:r>
            <a:endParaRPr lang="en-US" sz="1300" dirty="0"/>
          </a:p>
        </p:txBody>
      </p:sp>
      <p:sp>
        <p:nvSpPr>
          <p:cNvPr id="28" name="Shape 26"/>
          <p:cNvSpPr/>
          <p:nvPr/>
        </p:nvSpPr>
        <p:spPr>
          <a:xfrm>
            <a:off x="8869680" y="2240280"/>
            <a:ext cx="2651760" cy="1234440"/>
          </a:xfrm>
          <a:prstGeom prst="roundRect">
            <a:avLst>
              <a:gd name="adj" fmla="val 8889"/>
            </a:avLst>
          </a:prstGeom>
          <a:solidFill>
            <a:srgbClr val="111C2E"/>
          </a:solidFill>
          <a:ln w="12700">
            <a:solidFill>
              <a:srgbClr val="30363D"/>
            </a:solidFill>
            <a:prstDash val="solid"/>
          </a:ln>
        </p:spPr>
      </p:sp>
      <p:sp>
        <p:nvSpPr>
          <p:cNvPr id="29" name="Text 27"/>
          <p:cNvSpPr txBox="1"/>
          <p:nvPr/>
        </p:nvSpPr>
        <p:spPr>
          <a:xfrm>
            <a:off x="9098280" y="2331720"/>
            <a:ext cx="2194560" cy="68580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~13K</a:t>
            </a:r>
            <a:endParaRPr lang="en-US" sz="3600" dirty="0"/>
          </a:p>
        </p:txBody>
      </p:sp>
      <p:sp>
        <p:nvSpPr>
          <p:cNvPr id="30" name="Text 28"/>
          <p:cNvSpPr txBox="1"/>
          <p:nvPr/>
        </p:nvSpPr>
        <p:spPr>
          <a:xfrm>
            <a:off x="9098280" y="3017520"/>
            <a:ext cx="2194560" cy="36576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tokens in total</a:t>
            </a:r>
            <a:endParaRPr lang="en-US" sz="1300" dirty="0"/>
          </a:p>
        </p:txBody>
      </p:sp>
      <p:sp>
        <p:nvSpPr>
          <p:cNvPr id="31" name="Shape 29"/>
          <p:cNvSpPr/>
          <p:nvPr/>
        </p:nvSpPr>
        <p:spPr>
          <a:xfrm>
            <a:off x="6035040" y="3657600"/>
            <a:ext cx="2651760" cy="1234440"/>
          </a:xfrm>
          <a:prstGeom prst="roundRect">
            <a:avLst>
              <a:gd name="adj" fmla="val 8889"/>
            </a:avLst>
          </a:prstGeom>
          <a:solidFill>
            <a:srgbClr val="111C2E"/>
          </a:solidFill>
          <a:ln w="12700">
            <a:solidFill>
              <a:srgbClr val="30363D"/>
            </a:solidFill>
            <a:prstDash val="solid"/>
          </a:ln>
        </p:spPr>
      </p:sp>
      <p:sp>
        <p:nvSpPr>
          <p:cNvPr id="32" name="Text 30"/>
          <p:cNvSpPr txBox="1"/>
          <p:nvPr/>
        </p:nvSpPr>
        <p:spPr>
          <a:xfrm>
            <a:off x="6263640" y="3749040"/>
            <a:ext cx="2194560" cy="68580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&lt; 1 min</a:t>
            </a:r>
            <a:endParaRPr lang="en-US" sz="3600" dirty="0"/>
          </a:p>
        </p:txBody>
      </p:sp>
      <p:sp>
        <p:nvSpPr>
          <p:cNvPr id="33" name="Text 31"/>
          <p:cNvSpPr txBox="1"/>
          <p:nvPr/>
        </p:nvSpPr>
        <p:spPr>
          <a:xfrm>
            <a:off x="6263640" y="4434840"/>
            <a:ext cx="2194560" cy="36576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wall time</a:t>
            </a:r>
            <a:endParaRPr lang="en-US" sz="1300" dirty="0"/>
          </a:p>
        </p:txBody>
      </p:sp>
      <p:sp>
        <p:nvSpPr>
          <p:cNvPr id="34" name="Shape 32"/>
          <p:cNvSpPr/>
          <p:nvPr/>
        </p:nvSpPr>
        <p:spPr>
          <a:xfrm>
            <a:off x="8869680" y="3657600"/>
            <a:ext cx="2651760" cy="1234440"/>
          </a:xfrm>
          <a:prstGeom prst="roundRect">
            <a:avLst>
              <a:gd name="adj" fmla="val 8889"/>
            </a:avLst>
          </a:prstGeom>
          <a:solidFill>
            <a:srgbClr val="111C2E"/>
          </a:solidFill>
          <a:ln w="12700">
            <a:solidFill>
              <a:srgbClr val="30363D"/>
            </a:solidFill>
            <a:prstDash val="solid"/>
          </a:ln>
        </p:spPr>
      </p:sp>
      <p:sp>
        <p:nvSpPr>
          <p:cNvPr id="35" name="Text 33"/>
          <p:cNvSpPr txBox="1"/>
          <p:nvPr/>
        </p:nvSpPr>
        <p:spPr>
          <a:xfrm>
            <a:off x="9098280" y="3749040"/>
            <a:ext cx="2194560" cy="68580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~1¢</a:t>
            </a:r>
            <a:endParaRPr lang="en-US" sz="3600" dirty="0"/>
          </a:p>
        </p:txBody>
      </p:sp>
      <p:sp>
        <p:nvSpPr>
          <p:cNvPr id="36" name="Text 34"/>
          <p:cNvSpPr txBox="1"/>
          <p:nvPr/>
        </p:nvSpPr>
        <p:spPr>
          <a:xfrm>
            <a:off x="9098280" y="4434840"/>
            <a:ext cx="2194560" cy="36576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cost</a:t>
            </a:r>
            <a:endParaRPr lang="en-US" sz="1300" dirty="0"/>
          </a:p>
        </p:txBody>
      </p:sp>
      <p:sp>
        <p:nvSpPr>
          <p:cNvPr id="37" name="Text 35"/>
          <p:cNvSpPr txBox="1"/>
          <p:nvPr/>
        </p:nvSpPr>
        <p:spPr>
          <a:xfrm>
            <a:off x="6035040" y="5120640"/>
            <a:ext cx="55778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6EDF3"/>
                </a:solidFill>
                <a:latin typeface="Calibri" pitchFamily="34" charset="0"/>
                <a:ea typeface="Calibri" pitchFamily="34" charset="-122"/>
                <a:cs typeface="Calibri" pitchFamily="34" charset="-120"/>
              </a:rPr>
              <a:t>Observation masking in cache-stable chunks</a:t>
            </a:r>
            <a:endParaRPr lang="en-US" sz="1300" dirty="0"/>
          </a:p>
          <a:p>
            <a:pPr marL="342900" indent="-342900">
              <a:spcAft>
                <a:spcPts val="400"/>
              </a:spcAft>
              <a:buSzPct val="100000"/>
              <a:buChar char="•"/>
            </a:pPr>
            <a:r>
              <a:rPr lang="en-US" sz="1300" dirty="0">
                <a:solidFill>
                  <a:srgbClr val="E6EDF3"/>
                </a:solidFill>
                <a:latin typeface="Calibri" pitchFamily="34" charset="0"/>
                <a:ea typeface="Calibri" pitchFamily="34" charset="-122"/>
                <a:cs typeface="Calibri" pitchFamily="34" charset="-120"/>
              </a:rPr>
              <a:t>Head/tail truncation of long outputs; context chars before / sent / reduced measured</a:t>
            </a:r>
            <a:endParaRPr lang="en-US" sz="1300" dirty="0"/>
          </a:p>
          <a:p>
            <a:pPr marL="342900" indent="-342900">
              <a:spcAft>
                <a:spcPts val="400"/>
              </a:spcAft>
              <a:buSzPct val="100000"/>
              <a:buChar char="•"/>
            </a:pPr>
            <a:r>
              <a:rPr lang="en-US" sz="1300" dirty="0">
                <a:solidFill>
                  <a:srgbClr val="E6EDF3"/>
                </a:solidFill>
                <a:latin typeface="Calibri" pitchFamily="34" charset="0"/>
                <a:ea typeface="Calibri" pitchFamily="34" charset="-122"/>
                <a:cs typeface="Calibri" pitchFamily="34" charset="-120"/>
              </a:rPr>
              <a:t>Targeted regression tests, not whole suites</a:t>
            </a:r>
            <a:endParaRPr lang="en-US" sz="1300" dirty="0"/>
          </a:p>
        </p:txBody>
      </p:sp>
      <p:sp>
        <p:nvSpPr>
          <p:cNvPr id="38" name="Text 36"/>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39" name="Text 37"/>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Engineered to be judged</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The standard evaluation interface works on a fresh clone — and CI proves it on every push.</a:t>
            </a:r>
            <a:endParaRPr lang="en-US" sz="1600" dirty="0"/>
          </a:p>
        </p:txBody>
      </p:sp>
      <p:sp>
        <p:nvSpPr>
          <p:cNvPr id="4" name="Shape 2"/>
          <p:cNvSpPr/>
          <p:nvPr/>
        </p:nvSpPr>
        <p:spPr>
          <a:xfrm>
            <a:off x="548640" y="1783080"/>
            <a:ext cx="2606040" cy="1737360"/>
          </a:xfrm>
          <a:prstGeom prst="roundRect">
            <a:avLst>
              <a:gd name="adj" fmla="val 6316"/>
            </a:avLst>
          </a:prstGeom>
          <a:solidFill>
            <a:srgbClr val="111C2E"/>
          </a:solidFill>
          <a:ln w="12700">
            <a:solidFill>
              <a:srgbClr val="30363D"/>
            </a:solidFill>
            <a:prstDash val="solid"/>
          </a:ln>
        </p:spPr>
      </p:sp>
      <p:sp>
        <p:nvSpPr>
          <p:cNvPr id="5" name="Text 3"/>
          <p:cNvSpPr txBox="1"/>
          <p:nvPr/>
        </p:nvSpPr>
        <p:spPr>
          <a:xfrm>
            <a:off x="777240" y="1874520"/>
            <a:ext cx="2194560" cy="914400"/>
          </a:xfrm>
          <a:prstGeom prst="rect">
            <a:avLst/>
          </a:prstGeom>
          <a:noFill/>
          <a:ln/>
        </p:spPr>
        <p:txBody>
          <a:bodyPr wrap="square" lIns="0" tIns="0" rIns="0" bIns="0" rtlCol="0" anchor="ctr"/>
          <a:lstStyle/>
          <a:p>
            <a:pPr indent="0" marL="0">
              <a:buNone/>
            </a:pPr>
            <a:r>
              <a:rPr lang="en-US" sz="4800" b="1" dirty="0">
                <a:solidFill>
                  <a:srgbClr val="3FB950"/>
                </a:solidFill>
                <a:latin typeface="Arial" pitchFamily="34" charset="0"/>
                <a:ea typeface="Arial" pitchFamily="34" charset="-122"/>
                <a:cs typeface="Arial" pitchFamily="34" charset="-120"/>
              </a:rPr>
              <a:t>108</a:t>
            </a:r>
            <a:endParaRPr lang="en-US" sz="4800" dirty="0"/>
          </a:p>
        </p:txBody>
      </p:sp>
      <p:sp>
        <p:nvSpPr>
          <p:cNvPr id="6" name="Text 4"/>
          <p:cNvSpPr txBox="1"/>
          <p:nvPr/>
        </p:nvSpPr>
        <p:spPr>
          <a:xfrm>
            <a:off x="777240" y="2834640"/>
            <a:ext cx="2194560" cy="59436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offline tests (make test)</a:t>
            </a:r>
            <a:endParaRPr lang="en-US" sz="1300" dirty="0"/>
          </a:p>
        </p:txBody>
      </p:sp>
      <p:sp>
        <p:nvSpPr>
          <p:cNvPr id="7" name="Shape 5"/>
          <p:cNvSpPr/>
          <p:nvPr/>
        </p:nvSpPr>
        <p:spPr>
          <a:xfrm>
            <a:off x="3364992" y="1783080"/>
            <a:ext cx="2606040" cy="1737360"/>
          </a:xfrm>
          <a:prstGeom prst="roundRect">
            <a:avLst>
              <a:gd name="adj" fmla="val 6316"/>
            </a:avLst>
          </a:prstGeom>
          <a:solidFill>
            <a:srgbClr val="111C2E"/>
          </a:solidFill>
          <a:ln w="12700">
            <a:solidFill>
              <a:srgbClr val="30363D"/>
            </a:solidFill>
            <a:prstDash val="solid"/>
          </a:ln>
        </p:spPr>
      </p:sp>
      <p:sp>
        <p:nvSpPr>
          <p:cNvPr id="8" name="Text 6"/>
          <p:cNvSpPr txBox="1"/>
          <p:nvPr/>
        </p:nvSpPr>
        <p:spPr>
          <a:xfrm>
            <a:off x="3593592" y="1874520"/>
            <a:ext cx="2194560" cy="914400"/>
          </a:xfrm>
          <a:prstGeom prst="rect">
            <a:avLst/>
          </a:prstGeom>
          <a:noFill/>
          <a:ln/>
        </p:spPr>
        <p:txBody>
          <a:bodyPr wrap="square" lIns="0" tIns="0" rIns="0" bIns="0" rtlCol="0" anchor="ctr"/>
          <a:lstStyle/>
          <a:p>
            <a:pPr indent="0" marL="0">
              <a:buNone/>
            </a:pPr>
            <a:r>
              <a:rPr lang="en-US" sz="4800" b="1" dirty="0">
                <a:solidFill>
                  <a:srgbClr val="79C0FF"/>
                </a:solidFill>
                <a:latin typeface="Arial" pitchFamily="34" charset="0"/>
                <a:ea typeface="Arial" pitchFamily="34" charset="-122"/>
                <a:cs typeface="Arial" pitchFamily="34" charset="-120"/>
              </a:rPr>
              <a:t>635</a:t>
            </a:r>
            <a:endParaRPr lang="en-US" sz="4800" dirty="0"/>
          </a:p>
        </p:txBody>
      </p:sp>
      <p:sp>
        <p:nvSpPr>
          <p:cNvPr id="9" name="Text 7"/>
          <p:cNvSpPr txBox="1"/>
          <p:nvPr/>
        </p:nvSpPr>
        <p:spPr>
          <a:xfrm>
            <a:off x="3593592" y="2834640"/>
            <a:ext cx="2194560" cy="59436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tests incl. the full upstream suite</a:t>
            </a:r>
            <a:endParaRPr lang="en-US" sz="1300" dirty="0"/>
          </a:p>
        </p:txBody>
      </p:sp>
      <p:sp>
        <p:nvSpPr>
          <p:cNvPr id="10" name="Shape 8"/>
          <p:cNvSpPr/>
          <p:nvPr/>
        </p:nvSpPr>
        <p:spPr>
          <a:xfrm>
            <a:off x="6181344" y="1783080"/>
            <a:ext cx="2606040" cy="1737360"/>
          </a:xfrm>
          <a:prstGeom prst="roundRect">
            <a:avLst>
              <a:gd name="adj" fmla="val 6316"/>
            </a:avLst>
          </a:prstGeom>
          <a:solidFill>
            <a:srgbClr val="111C2E"/>
          </a:solidFill>
          <a:ln w="12700">
            <a:solidFill>
              <a:srgbClr val="30363D"/>
            </a:solidFill>
            <a:prstDash val="solid"/>
          </a:ln>
        </p:spPr>
      </p:sp>
      <p:sp>
        <p:nvSpPr>
          <p:cNvPr id="11" name="Text 9"/>
          <p:cNvSpPr txBox="1"/>
          <p:nvPr/>
        </p:nvSpPr>
        <p:spPr>
          <a:xfrm>
            <a:off x="6409944" y="1874520"/>
            <a:ext cx="2194560" cy="914400"/>
          </a:xfrm>
          <a:prstGeom prst="rect">
            <a:avLst/>
          </a:prstGeom>
          <a:noFill/>
          <a:ln/>
        </p:spPr>
        <p:txBody>
          <a:bodyPr wrap="square" lIns="0" tIns="0" rIns="0" bIns="0" rtlCol="0" anchor="ctr"/>
          <a:lstStyle/>
          <a:p>
            <a:pPr indent="0" marL="0">
              <a:buNone/>
            </a:pPr>
            <a:r>
              <a:rPr lang="en-US" sz="4800" b="1" dirty="0">
                <a:solidFill>
                  <a:srgbClr val="58A6FF"/>
                </a:solidFill>
                <a:latin typeface="Arial" pitchFamily="34" charset="0"/>
                <a:ea typeface="Arial" pitchFamily="34" charset="-122"/>
                <a:cs typeface="Arial" pitchFamily="34" charset="-120"/>
              </a:rPr>
              <a:t>6</a:t>
            </a:r>
            <a:endParaRPr lang="en-US" sz="4800" dirty="0"/>
          </a:p>
        </p:txBody>
      </p:sp>
      <p:sp>
        <p:nvSpPr>
          <p:cNvPr id="12" name="Text 10"/>
          <p:cNvSpPr txBox="1"/>
          <p:nvPr/>
        </p:nvSpPr>
        <p:spPr>
          <a:xfrm>
            <a:off x="6409944" y="2834640"/>
            <a:ext cx="2194560" cy="59436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CI environments, all green</a:t>
            </a:r>
            <a:endParaRPr lang="en-US" sz="1300" dirty="0"/>
          </a:p>
        </p:txBody>
      </p:sp>
      <p:sp>
        <p:nvSpPr>
          <p:cNvPr id="13" name="Shape 11"/>
          <p:cNvSpPr/>
          <p:nvPr/>
        </p:nvSpPr>
        <p:spPr>
          <a:xfrm>
            <a:off x="8997696" y="1783080"/>
            <a:ext cx="2606040" cy="1737360"/>
          </a:xfrm>
          <a:prstGeom prst="roundRect">
            <a:avLst>
              <a:gd name="adj" fmla="val 6316"/>
            </a:avLst>
          </a:prstGeom>
          <a:solidFill>
            <a:srgbClr val="111C2E"/>
          </a:solidFill>
          <a:ln w="12700">
            <a:solidFill>
              <a:srgbClr val="30363D"/>
            </a:solidFill>
            <a:prstDash val="solid"/>
          </a:ln>
        </p:spPr>
      </p:sp>
      <p:sp>
        <p:nvSpPr>
          <p:cNvPr id="14" name="Text 12"/>
          <p:cNvSpPr txBox="1"/>
          <p:nvPr/>
        </p:nvSpPr>
        <p:spPr>
          <a:xfrm>
            <a:off x="9226296" y="1874520"/>
            <a:ext cx="2194560" cy="914400"/>
          </a:xfrm>
          <a:prstGeom prst="rect">
            <a:avLst/>
          </a:prstGeom>
          <a:noFill/>
          <a:ln/>
        </p:spPr>
        <p:txBody>
          <a:bodyPr wrap="square" lIns="0" tIns="0" rIns="0" bIns="0" rtlCol="0" anchor="ctr"/>
          <a:lstStyle/>
          <a:p>
            <a:pPr indent="0" marL="0">
              <a:buNone/>
            </a:pPr>
            <a:r>
              <a:rPr lang="en-US" sz="4800" b="1" dirty="0">
                <a:solidFill>
                  <a:srgbClr val="F0B429"/>
                </a:solidFill>
                <a:latin typeface="Arial" pitchFamily="34" charset="0"/>
                <a:ea typeface="Arial" pitchFamily="34" charset="-122"/>
                <a:cs typeface="Arial" pitchFamily="34" charset="-120"/>
              </a:rPr>
              <a:t>0</a:t>
            </a:r>
            <a:endParaRPr lang="en-US" sz="4800" dirty="0"/>
          </a:p>
        </p:txBody>
      </p:sp>
      <p:sp>
        <p:nvSpPr>
          <p:cNvPr id="15" name="Text 13"/>
          <p:cNvSpPr txBox="1"/>
          <p:nvPr/>
        </p:nvSpPr>
        <p:spPr>
          <a:xfrm>
            <a:off x="9226296" y="2834640"/>
            <a:ext cx="2194560" cy="59436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secrets anywhere in git history</a:t>
            </a:r>
            <a:endParaRPr lang="en-US" sz="1300" dirty="0"/>
          </a:p>
        </p:txBody>
      </p:sp>
      <p:sp>
        <p:nvSpPr>
          <p:cNvPr id="16" name="Shape 14"/>
          <p:cNvSpPr/>
          <p:nvPr/>
        </p:nvSpPr>
        <p:spPr>
          <a:xfrm>
            <a:off x="548640" y="3794760"/>
            <a:ext cx="11064240" cy="530352"/>
          </a:xfrm>
          <a:prstGeom prst="roundRect">
            <a:avLst>
              <a:gd name="adj" fmla="val 20690"/>
            </a:avLst>
          </a:prstGeom>
          <a:solidFill>
            <a:srgbClr val="162338"/>
          </a:solidFill>
          <a:ln w="12700">
            <a:solidFill>
              <a:srgbClr val="30363D"/>
            </a:solidFill>
            <a:prstDash val="solid"/>
          </a:ln>
        </p:spPr>
      </p:sp>
      <p:sp>
        <p:nvSpPr>
          <p:cNvPr id="17" name="Text 15"/>
          <p:cNvSpPr txBox="1"/>
          <p:nvPr/>
        </p:nvSpPr>
        <p:spPr>
          <a:xfrm>
            <a:off x="777240" y="3794760"/>
            <a:ext cx="2194560" cy="530352"/>
          </a:xfrm>
          <a:prstGeom prst="rect">
            <a:avLst/>
          </a:prstGeom>
          <a:noFill/>
          <a:ln/>
        </p:spPr>
        <p:txBody>
          <a:bodyPr wrap="square" lIns="0" tIns="0" rIns="0" bIns="0" rtlCol="0" anchor="ctr"/>
          <a:lstStyle/>
          <a:p>
            <a:pPr indent="0" marL="0">
              <a:buNone/>
            </a:pPr>
            <a:r>
              <a:rPr lang="en-US" sz="1500" b="1" dirty="0">
                <a:solidFill>
                  <a:srgbClr val="3FB950"/>
                </a:solidFill>
                <a:latin typeface="Courier New" pitchFamily="34" charset="0"/>
                <a:ea typeface="Courier New" pitchFamily="34" charset="-122"/>
                <a:cs typeface="Courier New" pitchFamily="34" charset="-120"/>
              </a:rPr>
              <a:t>$ make setup</a:t>
            </a:r>
            <a:endParaRPr lang="en-US" sz="1500" dirty="0"/>
          </a:p>
        </p:txBody>
      </p:sp>
      <p:sp>
        <p:nvSpPr>
          <p:cNvPr id="18" name="Text 16"/>
          <p:cNvSpPr txBox="1"/>
          <p:nvPr/>
        </p:nvSpPr>
        <p:spPr>
          <a:xfrm>
            <a:off x="3017520" y="3794760"/>
            <a:ext cx="8412480" cy="530352"/>
          </a:xfrm>
          <a:prstGeom prst="rect">
            <a:avLst/>
          </a:prstGeom>
          <a:noFill/>
          <a:ln/>
        </p:spPr>
        <p:txBody>
          <a:bodyPr wrap="square" lIns="0" tIns="0" rIns="0" bIns="0" rtlCol="0" anchor="ctr"/>
          <a:lstStyle/>
          <a:p>
            <a:pPr indent="0" marL="0">
              <a:buNone/>
            </a:pPr>
            <a:r>
              <a:rPr lang="en-US" sz="1300" dirty="0">
                <a:solidFill>
                  <a:srgbClr val="E6EDF3"/>
                </a:solidFill>
                <a:latin typeface="Calibri" pitchFamily="34" charset="0"/>
                <a:ea typeface="Calibri" pitchFamily="34" charset="-122"/>
                <a:cs typeface="Calibri" pitchFamily="34" charset="-120"/>
              </a:rPr>
              <a:t>uv → venv+pip → bootstraps uv; even Debian without python3-venv, or only Python 3.9</a:t>
            </a:r>
            <a:endParaRPr lang="en-US" sz="1300" dirty="0"/>
          </a:p>
        </p:txBody>
      </p:sp>
      <p:sp>
        <p:nvSpPr>
          <p:cNvPr id="19" name="Shape 17"/>
          <p:cNvSpPr/>
          <p:nvPr/>
        </p:nvSpPr>
        <p:spPr>
          <a:xfrm>
            <a:off x="548640" y="4416552"/>
            <a:ext cx="11064240" cy="530352"/>
          </a:xfrm>
          <a:prstGeom prst="roundRect">
            <a:avLst>
              <a:gd name="adj" fmla="val 20690"/>
            </a:avLst>
          </a:prstGeom>
          <a:solidFill>
            <a:srgbClr val="162338"/>
          </a:solidFill>
          <a:ln w="12700">
            <a:solidFill>
              <a:srgbClr val="30363D"/>
            </a:solidFill>
            <a:prstDash val="solid"/>
          </a:ln>
        </p:spPr>
      </p:sp>
      <p:sp>
        <p:nvSpPr>
          <p:cNvPr id="20" name="Text 18"/>
          <p:cNvSpPr txBox="1"/>
          <p:nvPr/>
        </p:nvSpPr>
        <p:spPr>
          <a:xfrm>
            <a:off x="777240" y="4416552"/>
            <a:ext cx="2194560" cy="530352"/>
          </a:xfrm>
          <a:prstGeom prst="rect">
            <a:avLst/>
          </a:prstGeom>
          <a:noFill/>
          <a:ln/>
        </p:spPr>
        <p:txBody>
          <a:bodyPr wrap="square" lIns="0" tIns="0" rIns="0" bIns="0" rtlCol="0" anchor="ctr"/>
          <a:lstStyle/>
          <a:p>
            <a:pPr indent="0" marL="0">
              <a:buNone/>
            </a:pPr>
            <a:r>
              <a:rPr lang="en-US" sz="1500" b="1" dirty="0">
                <a:solidFill>
                  <a:srgbClr val="3FB950"/>
                </a:solidFill>
                <a:latin typeface="Courier New" pitchFamily="34" charset="0"/>
                <a:ea typeface="Courier New" pitchFamily="34" charset="-122"/>
                <a:cs typeface="Courier New" pitchFamily="34" charset="-120"/>
              </a:rPr>
              <a:t>$ make run</a:t>
            </a:r>
            <a:endParaRPr lang="en-US" sz="1500" dirty="0"/>
          </a:p>
        </p:txBody>
      </p:sp>
      <p:sp>
        <p:nvSpPr>
          <p:cNvPr id="21" name="Text 19"/>
          <p:cNvSpPr txBox="1"/>
          <p:nvPr/>
        </p:nvSpPr>
        <p:spPr>
          <a:xfrm>
            <a:off x="3017520" y="4416552"/>
            <a:ext cx="8412480" cy="530352"/>
          </a:xfrm>
          <a:prstGeom prst="rect">
            <a:avLst/>
          </a:prstGeom>
          <a:noFill/>
          <a:ln/>
        </p:spPr>
        <p:txBody>
          <a:bodyPr wrap="square" lIns="0" tIns="0" rIns="0" bIns="0" rtlCol="0" anchor="ctr"/>
          <a:lstStyle/>
          <a:p>
            <a:pPr indent="0" marL="0">
              <a:buNone/>
            </a:pPr>
            <a:r>
              <a:rPr lang="en-US" sz="1300" dirty="0">
                <a:solidFill>
                  <a:srgbClr val="E6EDF3"/>
                </a:solidFill>
                <a:latin typeface="Calibri" pitchFamily="34" charset="0"/>
                <a:ea typeface="Calibri" pitchFamily="34" charset="-122"/>
                <a:cs typeface="Calibri" pitchFamily="34" charset="-120"/>
              </a:rPr>
              <a:t>TUI by default · HEADLESS=1 · ISSUE= / TASK= / REPO= · key only via AI_API_KEY</a:t>
            </a:r>
            <a:endParaRPr lang="en-US" sz="1300" dirty="0"/>
          </a:p>
        </p:txBody>
      </p:sp>
      <p:sp>
        <p:nvSpPr>
          <p:cNvPr id="22" name="Shape 20"/>
          <p:cNvSpPr/>
          <p:nvPr/>
        </p:nvSpPr>
        <p:spPr>
          <a:xfrm>
            <a:off x="548640" y="5038344"/>
            <a:ext cx="11064240" cy="530352"/>
          </a:xfrm>
          <a:prstGeom prst="roundRect">
            <a:avLst>
              <a:gd name="adj" fmla="val 20690"/>
            </a:avLst>
          </a:prstGeom>
          <a:solidFill>
            <a:srgbClr val="162338"/>
          </a:solidFill>
          <a:ln w="12700">
            <a:solidFill>
              <a:srgbClr val="30363D"/>
            </a:solidFill>
            <a:prstDash val="solid"/>
          </a:ln>
        </p:spPr>
      </p:sp>
      <p:sp>
        <p:nvSpPr>
          <p:cNvPr id="23" name="Text 21"/>
          <p:cNvSpPr txBox="1"/>
          <p:nvPr/>
        </p:nvSpPr>
        <p:spPr>
          <a:xfrm>
            <a:off x="777240" y="5038344"/>
            <a:ext cx="2194560" cy="530352"/>
          </a:xfrm>
          <a:prstGeom prst="rect">
            <a:avLst/>
          </a:prstGeom>
          <a:noFill/>
          <a:ln/>
        </p:spPr>
        <p:txBody>
          <a:bodyPr wrap="square" lIns="0" tIns="0" rIns="0" bIns="0" rtlCol="0" anchor="ctr"/>
          <a:lstStyle/>
          <a:p>
            <a:pPr indent="0" marL="0">
              <a:buNone/>
            </a:pPr>
            <a:r>
              <a:rPr lang="en-US" sz="1500" b="1" dirty="0">
                <a:solidFill>
                  <a:srgbClr val="3FB950"/>
                </a:solidFill>
                <a:latin typeface="Courier New" pitchFamily="34" charset="0"/>
                <a:ea typeface="Courier New" pitchFamily="34" charset="-122"/>
                <a:cs typeface="Courier New" pitchFamily="34" charset="-120"/>
              </a:rPr>
              <a:t>$ make test</a:t>
            </a:r>
            <a:endParaRPr lang="en-US" sz="1500" dirty="0"/>
          </a:p>
        </p:txBody>
      </p:sp>
      <p:sp>
        <p:nvSpPr>
          <p:cNvPr id="24" name="Text 22"/>
          <p:cNvSpPr txBox="1"/>
          <p:nvPr/>
        </p:nvSpPr>
        <p:spPr>
          <a:xfrm>
            <a:off x="3017520" y="5038344"/>
            <a:ext cx="8412480" cy="530352"/>
          </a:xfrm>
          <a:prstGeom prst="rect">
            <a:avLst/>
          </a:prstGeom>
          <a:noFill/>
          <a:ln/>
        </p:spPr>
        <p:txBody>
          <a:bodyPr wrap="square" lIns="0" tIns="0" rIns="0" bIns="0" rtlCol="0" anchor="ctr"/>
          <a:lstStyle/>
          <a:p>
            <a:pPr indent="0" marL="0">
              <a:buNone/>
            </a:pPr>
            <a:r>
              <a:rPr lang="en-US" sz="1300" dirty="0">
                <a:solidFill>
                  <a:srgbClr val="E6EDF3"/>
                </a:solidFill>
                <a:latin typeface="Calibri" pitchFamily="34" charset="0"/>
                <a:ea typeface="Calibri" pitchFamily="34" charset="-122"/>
                <a:cs typeface="Calibri" pitchFamily="34" charset="-120"/>
              </a:rPr>
              <a:t>offline, no key, &lt; 1 min: gate, tools, recovery, provider rules, TUI</a:t>
            </a:r>
            <a:endParaRPr lang="en-US" sz="1300" dirty="0"/>
          </a:p>
        </p:txBody>
      </p:sp>
      <p:sp>
        <p:nvSpPr>
          <p:cNvPr id="25" name="Shape 23"/>
          <p:cNvSpPr/>
          <p:nvPr/>
        </p:nvSpPr>
        <p:spPr>
          <a:xfrm>
            <a:off x="548640" y="5660136"/>
            <a:ext cx="11064240" cy="530352"/>
          </a:xfrm>
          <a:prstGeom prst="roundRect">
            <a:avLst>
              <a:gd name="adj" fmla="val 20690"/>
            </a:avLst>
          </a:prstGeom>
          <a:solidFill>
            <a:srgbClr val="162338"/>
          </a:solidFill>
          <a:ln w="12700">
            <a:solidFill>
              <a:srgbClr val="30363D"/>
            </a:solidFill>
            <a:prstDash val="solid"/>
          </a:ln>
        </p:spPr>
      </p:sp>
      <p:sp>
        <p:nvSpPr>
          <p:cNvPr id="26" name="Text 24"/>
          <p:cNvSpPr txBox="1"/>
          <p:nvPr/>
        </p:nvSpPr>
        <p:spPr>
          <a:xfrm>
            <a:off x="777240" y="5660136"/>
            <a:ext cx="2194560" cy="530352"/>
          </a:xfrm>
          <a:prstGeom prst="rect">
            <a:avLst/>
          </a:prstGeom>
          <a:noFill/>
          <a:ln/>
        </p:spPr>
        <p:txBody>
          <a:bodyPr wrap="square" lIns="0" tIns="0" rIns="0" bIns="0" rtlCol="0" anchor="ctr"/>
          <a:lstStyle/>
          <a:p>
            <a:pPr indent="0" marL="0">
              <a:buNone/>
            </a:pPr>
            <a:r>
              <a:rPr lang="en-US" sz="1500" b="1" dirty="0">
                <a:solidFill>
                  <a:srgbClr val="3FB950"/>
                </a:solidFill>
                <a:latin typeface="Courier New" pitchFamily="34" charset="0"/>
                <a:ea typeface="Courier New" pitchFamily="34" charset="-122"/>
                <a:cs typeface="Courier New" pitchFamily="34" charset="-120"/>
              </a:rPr>
              <a:t>$ make clean</a:t>
            </a:r>
            <a:endParaRPr lang="en-US" sz="1500" dirty="0"/>
          </a:p>
        </p:txBody>
      </p:sp>
      <p:sp>
        <p:nvSpPr>
          <p:cNvPr id="27" name="Text 25"/>
          <p:cNvSpPr txBox="1"/>
          <p:nvPr/>
        </p:nvSpPr>
        <p:spPr>
          <a:xfrm>
            <a:off x="3017520" y="5660136"/>
            <a:ext cx="8412480" cy="530352"/>
          </a:xfrm>
          <a:prstGeom prst="rect">
            <a:avLst/>
          </a:prstGeom>
          <a:noFill/>
          <a:ln/>
        </p:spPr>
        <p:txBody>
          <a:bodyPr wrap="square" lIns="0" tIns="0" rIns="0" bIns="0" rtlCol="0" anchor="ctr"/>
          <a:lstStyle/>
          <a:p>
            <a:pPr indent="0" marL="0">
              <a:buNone/>
            </a:pPr>
            <a:r>
              <a:rPr lang="en-US" sz="1300" dirty="0">
                <a:solidFill>
                  <a:srgbClr val="E6EDF3"/>
                </a:solidFill>
                <a:latin typeface="Calibri" pitchFamily="34" charset="0"/>
                <a:ea typeface="Calibri" pitchFamily="34" charset="-122"/>
                <a:cs typeface="Calibri" pitchFamily="34" charset="-120"/>
              </a:rPr>
              <a:t>removes generated artefacts, keeps source and .env</a:t>
            </a:r>
            <a:endParaRPr lang="en-US" sz="1300" dirty="0"/>
          </a:p>
        </p:txBody>
      </p:sp>
      <p:sp>
        <p:nvSpPr>
          <p:cNvPr id="28" name="Text 26"/>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29" name="Text 27"/>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Architecture</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One orchestrated loop — no multi-agent overhead — with the verifier outside the model’s control.</a:t>
            </a:r>
            <a:endParaRPr lang="en-US" sz="1600" dirty="0"/>
          </a:p>
        </p:txBody>
      </p:sp>
      <p:sp>
        <p:nvSpPr>
          <p:cNvPr id="4" name="Shape 2"/>
          <p:cNvSpPr/>
          <p:nvPr/>
        </p:nvSpPr>
        <p:spPr>
          <a:xfrm>
            <a:off x="548640" y="1828800"/>
            <a:ext cx="2103120" cy="2514600"/>
          </a:xfrm>
          <a:prstGeom prst="roundRect">
            <a:avLst>
              <a:gd name="adj" fmla="val 5217"/>
            </a:avLst>
          </a:prstGeom>
          <a:solidFill>
            <a:srgbClr val="111C2E"/>
          </a:solidFill>
          <a:ln w="19050">
            <a:solidFill>
              <a:srgbClr val="58A6FF"/>
            </a:solidFill>
            <a:prstDash val="solid"/>
          </a:ln>
        </p:spPr>
      </p:sp>
      <p:sp>
        <p:nvSpPr>
          <p:cNvPr id="5" name="Text 3"/>
          <p:cNvSpPr txBox="1"/>
          <p:nvPr/>
        </p:nvSpPr>
        <p:spPr>
          <a:xfrm>
            <a:off x="685800" y="1965960"/>
            <a:ext cx="1828800" cy="457200"/>
          </a:xfrm>
          <a:prstGeom prst="rect">
            <a:avLst/>
          </a:prstGeom>
          <a:noFill/>
          <a:ln/>
        </p:spPr>
        <p:txBody>
          <a:bodyPr wrap="square" lIns="0" tIns="0" rIns="0" bIns="0" rtlCol="0" anchor="ctr"/>
          <a:lstStyle/>
          <a:p>
            <a:pPr algn="ctr" indent="0" marL="0">
              <a:buNone/>
            </a:pPr>
            <a:r>
              <a:rPr lang="en-US" sz="1400" b="1" dirty="0">
                <a:solidFill>
                  <a:srgbClr val="58A6FF"/>
                </a:solidFill>
                <a:latin typeface="Arial" pitchFamily="34" charset="0"/>
                <a:ea typeface="Arial" pitchFamily="34" charset="-122"/>
                <a:cs typeface="Arial" pitchFamily="34" charset="-120"/>
              </a:rPr>
              <a:t>INTAKE</a:t>
            </a:r>
            <a:endParaRPr lang="en-US" sz="1400" dirty="0"/>
          </a:p>
        </p:txBody>
      </p:sp>
      <p:sp>
        <p:nvSpPr>
          <p:cNvPr id="6" name="Text 4"/>
          <p:cNvSpPr txBox="1"/>
          <p:nvPr/>
        </p:nvSpPr>
        <p:spPr>
          <a:xfrm>
            <a:off x="685800" y="2514600"/>
            <a:ext cx="18288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GitHub URL · owner/repo#N</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text · @file · stdin · task</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clone / local repo, base commit</a:t>
            </a:r>
            <a:endParaRPr lang="en-US" sz="1200" dirty="0"/>
          </a:p>
        </p:txBody>
      </p:sp>
      <p:sp>
        <p:nvSpPr>
          <p:cNvPr id="7" name="Text 5"/>
          <p:cNvSpPr txBox="1"/>
          <p:nvPr/>
        </p:nvSpPr>
        <p:spPr>
          <a:xfrm>
            <a:off x="2624328" y="2834640"/>
            <a:ext cx="196596" cy="457200"/>
          </a:xfrm>
          <a:prstGeom prst="rect">
            <a:avLst/>
          </a:prstGeom>
          <a:noFill/>
          <a:ln/>
        </p:spPr>
        <p:txBody>
          <a:bodyPr wrap="square" lIns="0" tIns="0" rIns="0" bIns="0" rtlCol="0" anchor="t"/>
          <a:lstStyle/>
          <a:p>
            <a:pPr algn="ctr" indent="0" marL="0">
              <a:buNone/>
            </a:pPr>
            <a:r>
              <a:rPr lang="en-US" sz="2200" b="1" dirty="0">
                <a:solidFill>
                  <a:srgbClr val="8B949E"/>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793492" y="1828800"/>
            <a:ext cx="2103120" cy="2514600"/>
          </a:xfrm>
          <a:prstGeom prst="roundRect">
            <a:avLst>
              <a:gd name="adj" fmla="val 5217"/>
            </a:avLst>
          </a:prstGeom>
          <a:solidFill>
            <a:srgbClr val="111C2E"/>
          </a:solidFill>
          <a:ln w="19050">
            <a:solidFill>
              <a:srgbClr val="79C0FF"/>
            </a:solidFill>
            <a:prstDash val="solid"/>
          </a:ln>
        </p:spPr>
      </p:sp>
      <p:sp>
        <p:nvSpPr>
          <p:cNvPr id="9" name="Text 7"/>
          <p:cNvSpPr txBox="1"/>
          <p:nvPr/>
        </p:nvSpPr>
        <p:spPr>
          <a:xfrm>
            <a:off x="2930652" y="1965960"/>
            <a:ext cx="1828800" cy="457200"/>
          </a:xfrm>
          <a:prstGeom prst="rect">
            <a:avLst/>
          </a:prstGeom>
          <a:noFill/>
          <a:ln/>
        </p:spPr>
        <p:txBody>
          <a:bodyPr wrap="square" lIns="0" tIns="0" rIns="0" bIns="0" rtlCol="0" anchor="ctr"/>
          <a:lstStyle/>
          <a:p>
            <a:pPr algn="ctr" indent="0" marL="0">
              <a:buNone/>
            </a:pPr>
            <a:r>
              <a:rPr lang="en-US" sz="1400" b="1" dirty="0">
                <a:solidFill>
                  <a:srgbClr val="79C0FF"/>
                </a:solidFill>
                <a:latin typeface="Arial" pitchFamily="34" charset="0"/>
                <a:ea typeface="Arial" pitchFamily="34" charset="-122"/>
                <a:cs typeface="Arial" pitchFamily="34" charset="-120"/>
              </a:rPr>
              <a:t>MODEL LAYER</a:t>
            </a:r>
            <a:endParaRPr lang="en-US" sz="1400" dirty="0"/>
          </a:p>
        </p:txBody>
      </p:sp>
      <p:sp>
        <p:nvSpPr>
          <p:cNvPr id="10" name="Text 8"/>
          <p:cNvSpPr txBox="1"/>
          <p:nvPr/>
        </p:nvSpPr>
        <p:spPr>
          <a:xfrm>
            <a:off x="2930652" y="2514600"/>
            <a:ext cx="18288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host discovery from the key</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capability probe, text fallback</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retries · budget fitting</a:t>
            </a:r>
            <a:endParaRPr lang="en-US" sz="1200" dirty="0"/>
          </a:p>
        </p:txBody>
      </p:sp>
      <p:sp>
        <p:nvSpPr>
          <p:cNvPr id="11" name="Text 9"/>
          <p:cNvSpPr txBox="1"/>
          <p:nvPr/>
        </p:nvSpPr>
        <p:spPr>
          <a:xfrm>
            <a:off x="4869180" y="2834640"/>
            <a:ext cx="196596" cy="457200"/>
          </a:xfrm>
          <a:prstGeom prst="rect">
            <a:avLst/>
          </a:prstGeom>
          <a:noFill/>
          <a:ln/>
        </p:spPr>
        <p:txBody>
          <a:bodyPr wrap="square" lIns="0" tIns="0" rIns="0" bIns="0" rtlCol="0" anchor="t"/>
          <a:lstStyle/>
          <a:p>
            <a:pPr algn="ctr" indent="0" marL="0">
              <a:buNone/>
            </a:pPr>
            <a:r>
              <a:rPr lang="en-US" sz="2200" b="1" dirty="0">
                <a:solidFill>
                  <a:srgbClr val="8B949E"/>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038344" y="1828800"/>
            <a:ext cx="2103120" cy="2514600"/>
          </a:xfrm>
          <a:prstGeom prst="roundRect">
            <a:avLst>
              <a:gd name="adj" fmla="val 5217"/>
            </a:avLst>
          </a:prstGeom>
          <a:solidFill>
            <a:srgbClr val="111C2E"/>
          </a:solidFill>
          <a:ln w="19050">
            <a:solidFill>
              <a:srgbClr val="F0B429"/>
            </a:solidFill>
            <a:prstDash val="solid"/>
          </a:ln>
        </p:spPr>
      </p:sp>
      <p:sp>
        <p:nvSpPr>
          <p:cNvPr id="13" name="Text 11"/>
          <p:cNvSpPr txBox="1"/>
          <p:nvPr/>
        </p:nvSpPr>
        <p:spPr>
          <a:xfrm>
            <a:off x="5175504" y="1965960"/>
            <a:ext cx="1828800" cy="457200"/>
          </a:xfrm>
          <a:prstGeom prst="rect">
            <a:avLst/>
          </a:prstGeom>
          <a:noFill/>
          <a:ln/>
        </p:spPr>
        <p:txBody>
          <a:bodyPr wrap="square" lIns="0" tIns="0" rIns="0" bIns="0" rtlCol="0" anchor="ctr"/>
          <a:lstStyle/>
          <a:p>
            <a:pPr algn="ctr" indent="0" marL="0">
              <a:buNone/>
            </a:pPr>
            <a:r>
              <a:rPr lang="en-US" sz="1400" b="1" dirty="0">
                <a:solidFill>
                  <a:srgbClr val="F0B429"/>
                </a:solidFill>
                <a:latin typeface="Arial" pitchFamily="34" charset="0"/>
                <a:ea typeface="Arial" pitchFamily="34" charset="-122"/>
                <a:cs typeface="Arial" pitchFamily="34" charset="-120"/>
              </a:rPr>
              <a:t>AGENT LOOP</a:t>
            </a:r>
            <a:endParaRPr lang="en-US" sz="1400" dirty="0"/>
          </a:p>
        </p:txBody>
      </p:sp>
      <p:sp>
        <p:nvSpPr>
          <p:cNvPr id="14" name="Text 12"/>
          <p:cNvSpPr txBox="1"/>
          <p:nvPr/>
        </p:nvSpPr>
        <p:spPr>
          <a:xfrm>
            <a:off x="5175504" y="2514600"/>
            <a:ext cx="18288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tools: view · search · str_replace</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check_repro · undo_edit</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guards · masking · loop detection</a:t>
            </a:r>
            <a:endParaRPr lang="en-US" sz="1200" dirty="0"/>
          </a:p>
        </p:txBody>
      </p:sp>
      <p:sp>
        <p:nvSpPr>
          <p:cNvPr id="15" name="Text 13"/>
          <p:cNvSpPr txBox="1"/>
          <p:nvPr/>
        </p:nvSpPr>
        <p:spPr>
          <a:xfrm>
            <a:off x="7114032" y="2834640"/>
            <a:ext cx="196596" cy="457200"/>
          </a:xfrm>
          <a:prstGeom prst="rect">
            <a:avLst/>
          </a:prstGeom>
          <a:noFill/>
          <a:ln/>
        </p:spPr>
        <p:txBody>
          <a:bodyPr wrap="square" lIns="0" tIns="0" rIns="0" bIns="0" rtlCol="0" anchor="t"/>
          <a:lstStyle/>
          <a:p>
            <a:pPr algn="ctr" indent="0" marL="0">
              <a:buNone/>
            </a:pPr>
            <a:r>
              <a:rPr lang="en-US" sz="2200" b="1" dirty="0">
                <a:solidFill>
                  <a:srgbClr val="8B949E"/>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7283196" y="1828800"/>
            <a:ext cx="2103120" cy="2514600"/>
          </a:xfrm>
          <a:prstGeom prst="roundRect">
            <a:avLst>
              <a:gd name="adj" fmla="val 5217"/>
            </a:avLst>
          </a:prstGeom>
          <a:solidFill>
            <a:srgbClr val="111C2E"/>
          </a:solidFill>
          <a:ln w="19050">
            <a:solidFill>
              <a:srgbClr val="3FB950"/>
            </a:solidFill>
            <a:prstDash val="solid"/>
          </a:ln>
        </p:spPr>
      </p:sp>
      <p:sp>
        <p:nvSpPr>
          <p:cNvPr id="17" name="Text 15"/>
          <p:cNvSpPr txBox="1"/>
          <p:nvPr/>
        </p:nvSpPr>
        <p:spPr>
          <a:xfrm>
            <a:off x="7420356" y="1965960"/>
            <a:ext cx="1828800" cy="457200"/>
          </a:xfrm>
          <a:prstGeom prst="rect">
            <a:avLst/>
          </a:prstGeom>
          <a:noFill/>
          <a:ln/>
        </p:spPr>
        <p:txBody>
          <a:bodyPr wrap="square" lIns="0" tIns="0" rIns="0" bIns="0" rtlCol="0" anchor="ctr"/>
          <a:lstStyle/>
          <a:p>
            <a:pPr algn="ctr" indent="0" marL="0">
              <a:buNone/>
            </a:pPr>
            <a:r>
              <a:rPr lang="en-US" sz="1400" b="1" dirty="0">
                <a:solidFill>
                  <a:srgbClr val="3FB950"/>
                </a:solidFill>
                <a:latin typeface="Arial" pitchFamily="34" charset="0"/>
                <a:ea typeface="Arial" pitchFamily="34" charset="-122"/>
                <a:cs typeface="Arial" pitchFamily="34" charset="-120"/>
              </a:rPr>
              <a:t>VERIFICATION GATE</a:t>
            </a:r>
            <a:endParaRPr lang="en-US" sz="1400" dirty="0"/>
          </a:p>
        </p:txBody>
      </p:sp>
      <p:sp>
        <p:nvSpPr>
          <p:cNvPr id="18" name="Text 16"/>
          <p:cNvSpPr txBox="1"/>
          <p:nvPr/>
        </p:nvSpPr>
        <p:spPr>
          <a:xfrm>
            <a:off x="7420356" y="2514600"/>
            <a:ext cx="18288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runs on ORIGINAL vs CHANGED</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repro · tests · evidence</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accept / reject with logs</a:t>
            </a:r>
            <a:endParaRPr lang="en-US" sz="1200" dirty="0"/>
          </a:p>
        </p:txBody>
      </p:sp>
      <p:sp>
        <p:nvSpPr>
          <p:cNvPr id="19" name="Text 17"/>
          <p:cNvSpPr txBox="1"/>
          <p:nvPr/>
        </p:nvSpPr>
        <p:spPr>
          <a:xfrm>
            <a:off x="9358884" y="2834640"/>
            <a:ext cx="196596" cy="457200"/>
          </a:xfrm>
          <a:prstGeom prst="rect">
            <a:avLst/>
          </a:prstGeom>
          <a:noFill/>
          <a:ln/>
        </p:spPr>
        <p:txBody>
          <a:bodyPr wrap="square" lIns="0" tIns="0" rIns="0" bIns="0" rtlCol="0" anchor="t"/>
          <a:lstStyle/>
          <a:p>
            <a:pPr algn="ctr" indent="0" marL="0">
              <a:buNone/>
            </a:pPr>
            <a:r>
              <a:rPr lang="en-US" sz="2200" b="1" dirty="0">
                <a:solidFill>
                  <a:srgbClr val="8B949E"/>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9528048" y="1828800"/>
            <a:ext cx="2103120" cy="2514600"/>
          </a:xfrm>
          <a:prstGeom prst="roundRect">
            <a:avLst>
              <a:gd name="adj" fmla="val 5217"/>
            </a:avLst>
          </a:prstGeom>
          <a:solidFill>
            <a:srgbClr val="111C2E"/>
          </a:solidFill>
          <a:ln w="19050">
            <a:solidFill>
              <a:srgbClr val="E6EDF3"/>
            </a:solidFill>
            <a:prstDash val="solid"/>
          </a:ln>
        </p:spPr>
      </p:sp>
      <p:sp>
        <p:nvSpPr>
          <p:cNvPr id="21" name="Text 19"/>
          <p:cNvSpPr txBox="1"/>
          <p:nvPr/>
        </p:nvSpPr>
        <p:spPr>
          <a:xfrm>
            <a:off x="9665208" y="1965960"/>
            <a:ext cx="1828800" cy="457200"/>
          </a:xfrm>
          <a:prstGeom prst="rect">
            <a:avLst/>
          </a:prstGeom>
          <a:noFill/>
          <a:ln/>
        </p:spPr>
        <p:txBody>
          <a:bodyPr wrap="square" lIns="0" tIns="0" rIns="0" bIns="0" rtlCol="0" anchor="ctr"/>
          <a:lstStyle/>
          <a:p>
            <a:pPr algn="ctr" indent="0" marL="0">
              <a:buNone/>
            </a:pPr>
            <a:r>
              <a:rPr lang="en-US" sz="1400" b="1" dirty="0">
                <a:solidFill>
                  <a:srgbClr val="E6EDF3"/>
                </a:solidFill>
                <a:latin typeface="Arial" pitchFamily="34" charset="0"/>
                <a:ea typeface="Arial" pitchFamily="34" charset="-122"/>
                <a:cs typeface="Arial" pitchFamily="34" charset="-120"/>
              </a:rPr>
              <a:t>ARTIFACTS</a:t>
            </a:r>
            <a:endParaRPr lang="en-US" sz="1400" dirty="0"/>
          </a:p>
        </p:txBody>
      </p:sp>
      <p:sp>
        <p:nvSpPr>
          <p:cNvPr id="22" name="Text 20"/>
          <p:cNvSpPr txBox="1"/>
          <p:nvPr/>
        </p:nvSpPr>
        <p:spPr>
          <a:xfrm>
            <a:off x="9665208" y="2514600"/>
            <a:ext cx="18288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patch.diff · report.md</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telemetry.jsonl + summary</a:t>
            </a:r>
            <a:endParaRPr lang="en-US" sz="1200" dirty="0"/>
          </a:p>
          <a:p>
            <a:pPr marL="342900" indent="-342900">
              <a:spcAft>
                <a:spcPts val="600"/>
              </a:spcAft>
              <a:buSzPct val="100000"/>
              <a:buChar char="•"/>
            </a:pPr>
            <a:r>
              <a:rPr lang="en-US" sz="1200" dirty="0">
                <a:solidFill>
                  <a:srgbClr val="E6EDF3"/>
                </a:solidFill>
                <a:latin typeface="Calibri" pitchFamily="34" charset="0"/>
                <a:ea typeface="Calibri" pitchFamily="34" charset="-122"/>
                <a:cs typeface="Calibri" pitchFamily="34" charset="-120"/>
              </a:rPr>
              <a:t>trajectory · evidence/</a:t>
            </a:r>
            <a:endParaRPr lang="en-US" sz="1200" dirty="0"/>
          </a:p>
        </p:txBody>
      </p:sp>
      <p:sp>
        <p:nvSpPr>
          <p:cNvPr id="23" name="Text 21"/>
          <p:cNvSpPr txBox="1"/>
          <p:nvPr/>
        </p:nvSpPr>
        <p:spPr>
          <a:xfrm>
            <a:off x="3291840" y="4480560"/>
            <a:ext cx="5852160" cy="365760"/>
          </a:xfrm>
          <a:prstGeom prst="rect">
            <a:avLst/>
          </a:prstGeom>
          <a:noFill/>
          <a:ln/>
        </p:spPr>
        <p:txBody>
          <a:bodyPr wrap="square" lIns="0" tIns="0" rIns="0" bIns="0" rtlCol="0" anchor="t"/>
          <a:lstStyle/>
          <a:p>
            <a:pPr algn="ctr" indent="0" marL="0">
              <a:buNone/>
            </a:pPr>
            <a:r>
              <a:rPr lang="en-US" sz="1400" b="1" dirty="0">
                <a:solidFill>
                  <a:srgbClr val="FF6B81"/>
                </a:solidFill>
                <a:latin typeface="Calibri" pitchFamily="34" charset="0"/>
                <a:ea typeface="Calibri" pitchFamily="34" charset="-122"/>
                <a:cs typeface="Calibri" pitchFamily="34" charset="-120"/>
              </a:rPr>
              <a:t>↺  gate rejects → logs go back to the agent loop</a:t>
            </a:r>
            <a:endParaRPr lang="en-US" sz="1400" dirty="0"/>
          </a:p>
        </p:txBody>
      </p:sp>
      <p:sp>
        <p:nvSpPr>
          <p:cNvPr id="24" name="Shape 22"/>
          <p:cNvSpPr/>
          <p:nvPr/>
        </p:nvSpPr>
        <p:spPr>
          <a:xfrm>
            <a:off x="548640" y="5120640"/>
            <a:ext cx="11064240" cy="960120"/>
          </a:xfrm>
          <a:prstGeom prst="roundRect">
            <a:avLst>
              <a:gd name="adj" fmla="val 11429"/>
            </a:avLst>
          </a:prstGeom>
          <a:solidFill>
            <a:srgbClr val="162338"/>
          </a:solidFill>
          <a:ln w="12700">
            <a:solidFill>
              <a:srgbClr val="30363D"/>
            </a:solidFill>
            <a:prstDash val="solid"/>
          </a:ln>
        </p:spPr>
      </p:sp>
      <p:sp>
        <p:nvSpPr>
          <p:cNvPr id="25" name="Text 23"/>
          <p:cNvSpPr txBox="1"/>
          <p:nvPr/>
        </p:nvSpPr>
        <p:spPr>
          <a:xfrm>
            <a:off x="777240" y="5120640"/>
            <a:ext cx="10607040" cy="960120"/>
          </a:xfrm>
          <a:prstGeom prst="rect">
            <a:avLst/>
          </a:prstGeom>
          <a:noFill/>
          <a:ln/>
        </p:spPr>
        <p:txBody>
          <a:bodyPr wrap="square" lIns="0" tIns="0" rIns="0" bIns="0" rtlCol="0" anchor="ctr"/>
          <a:lstStyle/>
          <a:p>
            <a:pPr indent="0" marL="0">
              <a:buNone/>
            </a:pPr>
            <a:r>
              <a:rPr lang="en-US" sz="1500" dirty="0">
                <a:solidFill>
                  <a:srgbClr val="8B949E"/>
                </a:solidFill>
                <a:latin typeface="Calibri" pitchFamily="34" charset="0"/>
                <a:ea typeface="Calibri" pitchFamily="34" charset="-122"/>
                <a:cs typeface="Calibri" pitchFamily="34" charset="-120"/>
              </a:rPr>
              <a:t>Built on mini-swe-agent (MIT, Princeton/Stanford SWE-agent team) — </a:t>
            </a:r>
            <a:pPr indent="0" marL="0">
              <a:buNone/>
            </a:pPr>
            <a:r>
              <a:rPr lang="en-US" sz="1500" b="1" dirty="0">
                <a:solidFill>
                  <a:srgbClr val="E6EDF3"/>
                </a:solidFill>
                <a:latin typeface="Calibri" pitchFamily="34" charset="0"/>
                <a:ea typeface="Calibri" pitchFamily="34" charset="-122"/>
                <a:cs typeface="Calibri" pitchFamily="34" charset="-120"/>
              </a:rPr>
              <a:t>~940 reused core lines; ~4,300 new lines of harness + ~1,300 lines of tests on top.</a:t>
            </a:r>
            <a:endParaRPr lang="en-US" sz="1500" dirty="0"/>
          </a:p>
        </p:txBody>
      </p:sp>
      <p:sp>
        <p:nvSpPr>
          <p:cNvPr id="26" name="Text 2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27" name="Text 25"/>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See it run</a:t>
            </a:r>
            <a:endParaRPr lang="en-US" sz="34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The evaluator’s exact flow — plus an offline demo that shows failure, recovery and verification.</a:t>
            </a:r>
            <a:endParaRPr lang="en-US" sz="1600" dirty="0"/>
          </a:p>
        </p:txBody>
      </p:sp>
      <p:sp>
        <p:nvSpPr>
          <p:cNvPr id="4" name="Shape 2"/>
          <p:cNvSpPr/>
          <p:nvPr/>
        </p:nvSpPr>
        <p:spPr>
          <a:xfrm>
            <a:off x="548640" y="1783080"/>
            <a:ext cx="6675120" cy="3611880"/>
          </a:xfrm>
          <a:prstGeom prst="roundRect">
            <a:avLst>
              <a:gd name="adj" fmla="val 3038"/>
            </a:avLst>
          </a:prstGeom>
          <a:solidFill>
            <a:srgbClr val="0A1424"/>
          </a:solidFill>
          <a:ln w="12700">
            <a:solidFill>
              <a:srgbClr val="1F6FEB"/>
            </a:solidFill>
            <a:prstDash val="solid"/>
          </a:ln>
          <a:effectLst>
            <a:outerShdw sx="100000" sy="100000" kx="0" ky="0" algn="bl" rotWithShape="0" blurRad="152400" dist="50800" dir="5400000">
              <a:srgbClr val="000000">
                <a:alpha val="45000"/>
              </a:srgbClr>
            </a:outerShdw>
          </a:effectLst>
        </p:spPr>
      </p:sp>
      <p:sp>
        <p:nvSpPr>
          <p:cNvPr id="5" name="Shape 3"/>
          <p:cNvSpPr/>
          <p:nvPr/>
        </p:nvSpPr>
        <p:spPr>
          <a:xfrm>
            <a:off x="777240" y="1965960"/>
            <a:ext cx="164592" cy="164592"/>
          </a:xfrm>
          <a:prstGeom prst="ellipse">
            <a:avLst/>
          </a:prstGeom>
          <a:solidFill>
            <a:srgbClr val="FF5F57"/>
          </a:solidFill>
          <a:ln w="12700">
            <a:solidFill>
              <a:srgbClr val="FF5F57"/>
            </a:solidFill>
            <a:prstDash val="solid"/>
          </a:ln>
        </p:spPr>
      </p:sp>
      <p:sp>
        <p:nvSpPr>
          <p:cNvPr id="6" name="Shape 4"/>
          <p:cNvSpPr/>
          <p:nvPr/>
        </p:nvSpPr>
        <p:spPr>
          <a:xfrm>
            <a:off x="1051560" y="1965960"/>
            <a:ext cx="164592" cy="164592"/>
          </a:xfrm>
          <a:prstGeom prst="ellipse">
            <a:avLst/>
          </a:prstGeom>
          <a:solidFill>
            <a:srgbClr val="FEBC2E"/>
          </a:solidFill>
          <a:ln w="12700">
            <a:solidFill>
              <a:srgbClr val="FEBC2E"/>
            </a:solidFill>
            <a:prstDash val="solid"/>
          </a:ln>
        </p:spPr>
      </p:sp>
      <p:sp>
        <p:nvSpPr>
          <p:cNvPr id="7" name="Shape 5"/>
          <p:cNvSpPr/>
          <p:nvPr/>
        </p:nvSpPr>
        <p:spPr>
          <a:xfrm>
            <a:off x="1325880" y="1965960"/>
            <a:ext cx="164592" cy="164592"/>
          </a:xfrm>
          <a:prstGeom prst="ellipse">
            <a:avLst/>
          </a:prstGeom>
          <a:solidFill>
            <a:srgbClr val="28C840"/>
          </a:solidFill>
          <a:ln w="12700">
            <a:solidFill>
              <a:srgbClr val="28C840"/>
            </a:solidFill>
            <a:prstDash val="solid"/>
          </a:ln>
        </p:spPr>
      </p:sp>
      <p:sp>
        <p:nvSpPr>
          <p:cNvPr id="8" name="Text 6"/>
          <p:cNvSpPr txBox="1"/>
          <p:nvPr/>
        </p:nvSpPr>
        <p:spPr>
          <a:xfrm>
            <a:off x="822960" y="2331720"/>
            <a:ext cx="6217920" cy="3657600"/>
          </a:xfrm>
          <a:prstGeom prst="rect">
            <a:avLst/>
          </a:prstGeom>
          <a:noFill/>
          <a:ln/>
        </p:spPr>
        <p:txBody>
          <a:bodyPr wrap="square" lIns="0" tIns="0" rIns="0" bIns="0" rtlCol="0" anchor="t"/>
          <a:lstStyle/>
          <a:p>
            <a:pPr indent="0" marL="0">
              <a:spcAft>
                <a:spcPts val="400"/>
              </a:spcAft>
              <a:buNone/>
            </a:pPr>
            <a:r>
              <a:rPr lang="en-US" sz="1400" dirty="0">
                <a:solidFill>
                  <a:srgbClr val="E6EDF3"/>
                </a:solidFill>
                <a:latin typeface="Courier New" pitchFamily="34" charset="0"/>
                <a:ea typeface="Courier New" pitchFamily="34" charset="-122"/>
                <a:cs typeface="Courier New" pitchFamily="34" charset="-120"/>
              </a:rPr>
              <a:t>$ git clone https://github.com/oksaumya/veriswe</a:t>
            </a:r>
            <a:endParaRPr lang="en-US" sz="1400" dirty="0"/>
          </a:p>
          <a:p>
            <a:pPr indent="0" marL="0">
              <a:spcAft>
                <a:spcPts val="400"/>
              </a:spcAft>
              <a:buNone/>
            </a:pPr>
            <a:r>
              <a:rPr lang="en-US" sz="1400" dirty="0">
                <a:solidFill>
                  <a:srgbClr val="E6EDF3"/>
                </a:solidFill>
                <a:latin typeface="Courier New" pitchFamily="34" charset="0"/>
                <a:ea typeface="Courier New" pitchFamily="34" charset="-122"/>
                <a:cs typeface="Courier New" pitchFamily="34" charset="-120"/>
              </a:rPr>
              <a:t>$ cd veriswe</a:t>
            </a:r>
            <a:endParaRPr lang="en-US" sz="1400" dirty="0"/>
          </a:p>
          <a:p>
            <a:pPr indent="0" marL="0">
              <a:spcAft>
                <a:spcPts val="400"/>
              </a:spcAft>
              <a:buNone/>
            </a:pPr>
            <a:r>
              <a:rPr lang="en-US" sz="1400" dirty="0">
                <a:solidFill>
                  <a:srgbClr val="E6EDF3"/>
                </a:solidFill>
                <a:latin typeface="Courier New" pitchFamily="34" charset="0"/>
                <a:ea typeface="Courier New" pitchFamily="34" charset="-122"/>
                <a:cs typeface="Courier New" pitchFamily="34" charset="-120"/>
              </a:rPr>
              <a:t>$ export AI_API_KEY="&lt;DeepSeek or Qwen key&gt;"</a:t>
            </a:r>
            <a:endParaRPr lang="en-US" sz="1400" dirty="0"/>
          </a:p>
          <a:p>
            <a:pPr indent="0" marL="0">
              <a:spcAft>
                <a:spcPts val="400"/>
              </a:spcAft>
              <a:buNone/>
            </a:pPr>
            <a:r>
              <a:rPr lang="en-US" sz="1400" dirty="0">
                <a:solidFill>
                  <a:srgbClr val="E6EDF3"/>
                </a:solidFill>
                <a:latin typeface="Courier New" pitchFamily="34" charset="0"/>
                <a:ea typeface="Courier New" pitchFamily="34" charset="-122"/>
                <a:cs typeface="Courier New" pitchFamily="34" charset="-120"/>
              </a:rPr>
              <a:t>$ make setup</a:t>
            </a:r>
            <a:endParaRPr lang="en-US" sz="1400" dirty="0"/>
          </a:p>
          <a:p>
            <a:pPr indent="0" marL="0">
              <a:spcAft>
                <a:spcPts val="400"/>
              </a:spcAft>
              <a:buNone/>
            </a:pPr>
            <a:r>
              <a:rPr lang="en-US" sz="1400" b="1" dirty="0">
                <a:solidFill>
                  <a:srgbClr val="3FB950"/>
                </a:solidFill>
                <a:latin typeface="Courier New" pitchFamily="34" charset="0"/>
                <a:ea typeface="Courier New" pitchFamily="34" charset="-122"/>
                <a:cs typeface="Courier New" pitchFamily="34" charset="-120"/>
              </a:rPr>
              <a:t>$ make run</a:t>
            </a:r>
            <a:endParaRPr lang="en-US" sz="1400" dirty="0"/>
          </a:p>
          <a:p>
            <a:pPr indent="0" marL="0">
              <a:spcAft>
                <a:spcPts val="400"/>
              </a:spcAft>
              <a:buNone/>
            </a:pPr>
            <a:r>
              <a:rPr lang="en-US" sz="1400" dirty="0">
                <a:solidFill>
                  <a:srgbClr val="8B949E"/>
                </a:solidFill>
                <a:latin typeface="Courier New" pitchFamily="34" charset="0"/>
                <a:ea typeface="Courier New" pitchFamily="34" charset="-122"/>
                <a:cs typeface="Courier New" pitchFamily="34" charset="-120"/>
              </a:rPr>
              <a:t>  # paste an issue URL or task → Ctrl+S</a:t>
            </a:r>
            <a:endParaRPr lang="en-US" sz="1400" dirty="0"/>
          </a:p>
          <a:p>
            <a:pPr indent="0" marL="0">
              <a:spcAft>
                <a:spcPts val="400"/>
              </a:spcAft>
              <a:buNone/>
            </a:pPr>
            <a:r>
              <a:rPr lang="en-US" sz="1400" dirty="0">
                <a:solidFill>
                  <a:srgbClr val="E6EDF3"/>
                </a:solidFill>
                <a:latin typeface="Courier New" pitchFamily="34" charset="0"/>
                <a:ea typeface="Courier New" pitchFamily="34" charset="-122"/>
                <a:cs typeface="Courier New" pitchFamily="34" charset="-120"/>
              </a:rPr>
              <a:t> </a:t>
            </a:r>
            <a:endParaRPr lang="en-US" sz="1400" dirty="0"/>
          </a:p>
          <a:p>
            <a:pPr indent="0" marL="0">
              <a:spcAft>
                <a:spcPts val="400"/>
              </a:spcAft>
              <a:buNone/>
            </a:pPr>
            <a:r>
              <a:rPr lang="en-US" sz="1400" b="1" dirty="0">
                <a:solidFill>
                  <a:srgbClr val="F0B429"/>
                </a:solidFill>
                <a:latin typeface="Courier New" pitchFamily="34" charset="0"/>
                <a:ea typeface="Courier New" pitchFamily="34" charset="-122"/>
                <a:cs typeface="Courier New" pitchFamily="34" charset="-120"/>
              </a:rPr>
              <a:t>$ make demo-recovery   # offline, no key, ~10 s</a:t>
            </a:r>
            <a:endParaRPr lang="en-US" sz="1400" dirty="0"/>
          </a:p>
          <a:p>
            <a:pPr indent="0" marL="0">
              <a:spcAft>
                <a:spcPts val="400"/>
              </a:spcAft>
              <a:buNone/>
            </a:pPr>
            <a:r>
              <a:rPr lang="en-US" sz="1400" dirty="0">
                <a:solidFill>
                  <a:srgbClr val="E6EDF3"/>
                </a:solidFill>
                <a:latin typeface="Courier New" pitchFamily="34" charset="0"/>
                <a:ea typeface="Courier New" pitchFamily="34" charset="-122"/>
                <a:cs typeface="Courier New" pitchFamily="34" charset="-120"/>
              </a:rPr>
              <a:t>$ make test            # 108 offline tests</a:t>
            </a:r>
            <a:endParaRPr lang="en-US" sz="1400" dirty="0"/>
          </a:p>
        </p:txBody>
      </p:sp>
      <p:sp>
        <p:nvSpPr>
          <p:cNvPr id="9" name="Shape 7"/>
          <p:cNvSpPr/>
          <p:nvPr/>
        </p:nvSpPr>
        <p:spPr>
          <a:xfrm>
            <a:off x="548640" y="5532120"/>
            <a:ext cx="6675120" cy="658368"/>
          </a:xfrm>
          <a:prstGeom prst="roundRect">
            <a:avLst>
              <a:gd name="adj" fmla="val 16667"/>
            </a:avLst>
          </a:prstGeom>
          <a:solidFill>
            <a:srgbClr val="111C2E"/>
          </a:solidFill>
          <a:ln w="12700">
            <a:solidFill>
              <a:srgbClr val="F0B429"/>
            </a:solidFill>
            <a:prstDash val="solid"/>
          </a:ln>
        </p:spPr>
      </p:sp>
      <p:sp>
        <p:nvSpPr>
          <p:cNvPr id="10" name="Text 8"/>
          <p:cNvSpPr txBox="1"/>
          <p:nvPr/>
        </p:nvSpPr>
        <p:spPr>
          <a:xfrm>
            <a:off x="731520" y="5532120"/>
            <a:ext cx="6355080" cy="658368"/>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demo-recovery replays scripted model decisions through the REAL harness, tools, tests and verifier — guaranteed to show the failure → recovery → VERIFIED arc.</a:t>
            </a:r>
            <a:endParaRPr lang="en-US" sz="1200" dirty="0"/>
          </a:p>
        </p:txBody>
      </p:sp>
      <p:sp>
        <p:nvSpPr>
          <p:cNvPr id="11" name="Text 9"/>
          <p:cNvSpPr txBox="1"/>
          <p:nvPr/>
        </p:nvSpPr>
        <p:spPr>
          <a:xfrm>
            <a:off x="7589520" y="1783080"/>
            <a:ext cx="4023360" cy="365760"/>
          </a:xfrm>
          <a:prstGeom prst="rect">
            <a:avLst/>
          </a:prstGeom>
          <a:noFill/>
          <a:ln/>
        </p:spPr>
        <p:txBody>
          <a:bodyPr wrap="square" lIns="0" tIns="0" rIns="0" bIns="0" rtlCol="0" anchor="t"/>
          <a:lstStyle/>
          <a:p>
            <a:pPr indent="0" marL="0">
              <a:buNone/>
            </a:pPr>
            <a:r>
              <a:rPr lang="en-US" sz="1700" b="1" dirty="0">
                <a:solidFill>
                  <a:srgbClr val="79C0FF"/>
                </a:solidFill>
                <a:latin typeface="Calibri" pitchFamily="34" charset="0"/>
                <a:ea typeface="Calibri" pitchFamily="34" charset="-122"/>
                <a:cs typeface="Calibri" pitchFamily="34" charset="-120"/>
              </a:rPr>
              <a:t>Demo storyline</a:t>
            </a:r>
            <a:endParaRPr lang="en-US" sz="1700" dirty="0"/>
          </a:p>
        </p:txBody>
      </p:sp>
      <p:sp>
        <p:nvSpPr>
          <p:cNvPr id="12" name="Shape 10"/>
          <p:cNvSpPr/>
          <p:nvPr/>
        </p:nvSpPr>
        <p:spPr>
          <a:xfrm>
            <a:off x="7589520" y="2240280"/>
            <a:ext cx="4023360" cy="384048"/>
          </a:xfrm>
          <a:prstGeom prst="roundRect">
            <a:avLst>
              <a:gd name="adj" fmla="val 50000"/>
            </a:avLst>
          </a:prstGeom>
          <a:solidFill>
            <a:srgbClr val="58A6FF">
              <a:alpha val="18000"/>
            </a:srgbClr>
          </a:solidFill>
          <a:ln w="12700">
            <a:solidFill>
              <a:srgbClr val="58A6FF"/>
            </a:solidFill>
            <a:prstDash val="solid"/>
          </a:ln>
        </p:spPr>
      </p:sp>
      <p:sp>
        <p:nvSpPr>
          <p:cNvPr id="13" name="Text 11"/>
          <p:cNvSpPr txBox="1"/>
          <p:nvPr/>
        </p:nvSpPr>
        <p:spPr>
          <a:xfrm>
            <a:off x="7772400" y="2240280"/>
            <a:ext cx="3657600" cy="384048"/>
          </a:xfrm>
          <a:prstGeom prst="rect">
            <a:avLst/>
          </a:prstGeom>
          <a:noFill/>
          <a:ln/>
        </p:spPr>
        <p:txBody>
          <a:bodyPr wrap="square" lIns="0" tIns="0" rIns="0" bIns="0"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1   TASK</a:t>
            </a:r>
            <a:endParaRPr lang="en-US" sz="1400" dirty="0"/>
          </a:p>
        </p:txBody>
      </p:sp>
      <p:sp>
        <p:nvSpPr>
          <p:cNvPr id="14" name="Shape 12"/>
          <p:cNvSpPr/>
          <p:nvPr/>
        </p:nvSpPr>
        <p:spPr>
          <a:xfrm>
            <a:off x="7589520" y="2715768"/>
            <a:ext cx="4023360" cy="384048"/>
          </a:xfrm>
          <a:prstGeom prst="roundRect">
            <a:avLst>
              <a:gd name="adj" fmla="val 50000"/>
            </a:avLst>
          </a:prstGeom>
          <a:solidFill>
            <a:srgbClr val="58A6FF">
              <a:alpha val="18000"/>
            </a:srgbClr>
          </a:solidFill>
          <a:ln w="12700">
            <a:solidFill>
              <a:srgbClr val="58A6FF"/>
            </a:solidFill>
            <a:prstDash val="solid"/>
          </a:ln>
        </p:spPr>
      </p:sp>
      <p:sp>
        <p:nvSpPr>
          <p:cNvPr id="15" name="Text 13"/>
          <p:cNvSpPr txBox="1"/>
          <p:nvPr/>
        </p:nvSpPr>
        <p:spPr>
          <a:xfrm>
            <a:off x="7772400" y="2715768"/>
            <a:ext cx="3657600" cy="384048"/>
          </a:xfrm>
          <a:prstGeom prst="rect">
            <a:avLst/>
          </a:prstGeom>
          <a:noFill/>
          <a:ln/>
        </p:spPr>
        <p:txBody>
          <a:bodyPr wrap="square" lIns="0" tIns="0" rIns="0" bIns="0"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2   EXPLORE</a:t>
            </a:r>
            <a:endParaRPr lang="en-US" sz="1400" dirty="0"/>
          </a:p>
        </p:txBody>
      </p:sp>
      <p:sp>
        <p:nvSpPr>
          <p:cNvPr id="16" name="Shape 14"/>
          <p:cNvSpPr/>
          <p:nvPr/>
        </p:nvSpPr>
        <p:spPr>
          <a:xfrm>
            <a:off x="7589520" y="3191256"/>
            <a:ext cx="4023360" cy="384048"/>
          </a:xfrm>
          <a:prstGeom prst="roundRect">
            <a:avLst>
              <a:gd name="adj" fmla="val 50000"/>
            </a:avLst>
          </a:prstGeom>
          <a:solidFill>
            <a:srgbClr val="58A6FF">
              <a:alpha val="18000"/>
            </a:srgbClr>
          </a:solidFill>
          <a:ln w="12700">
            <a:solidFill>
              <a:srgbClr val="58A6FF"/>
            </a:solidFill>
            <a:prstDash val="solid"/>
          </a:ln>
        </p:spPr>
      </p:sp>
      <p:sp>
        <p:nvSpPr>
          <p:cNvPr id="17" name="Text 15"/>
          <p:cNvSpPr txBox="1"/>
          <p:nvPr/>
        </p:nvSpPr>
        <p:spPr>
          <a:xfrm>
            <a:off x="7772400" y="3191256"/>
            <a:ext cx="3657600" cy="384048"/>
          </a:xfrm>
          <a:prstGeom prst="rect">
            <a:avLst/>
          </a:prstGeom>
          <a:noFill/>
          <a:ln/>
        </p:spPr>
        <p:txBody>
          <a:bodyPr wrap="square" lIns="0" tIns="0" rIns="0" bIns="0"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3   ACT</a:t>
            </a:r>
            <a:endParaRPr lang="en-US" sz="1400" dirty="0"/>
          </a:p>
        </p:txBody>
      </p:sp>
      <p:sp>
        <p:nvSpPr>
          <p:cNvPr id="18" name="Shape 16"/>
          <p:cNvSpPr/>
          <p:nvPr/>
        </p:nvSpPr>
        <p:spPr>
          <a:xfrm>
            <a:off x="7589520" y="3666744"/>
            <a:ext cx="4023360" cy="384048"/>
          </a:xfrm>
          <a:prstGeom prst="roundRect">
            <a:avLst>
              <a:gd name="adj" fmla="val 50000"/>
            </a:avLst>
          </a:prstGeom>
          <a:solidFill>
            <a:srgbClr val="58A6FF">
              <a:alpha val="18000"/>
            </a:srgbClr>
          </a:solidFill>
          <a:ln w="12700">
            <a:solidFill>
              <a:srgbClr val="58A6FF"/>
            </a:solidFill>
            <a:prstDash val="solid"/>
          </a:ln>
        </p:spPr>
      </p:sp>
      <p:sp>
        <p:nvSpPr>
          <p:cNvPr id="19" name="Text 17"/>
          <p:cNvSpPr txBox="1"/>
          <p:nvPr/>
        </p:nvSpPr>
        <p:spPr>
          <a:xfrm>
            <a:off x="7772400" y="3666744"/>
            <a:ext cx="3657600" cy="384048"/>
          </a:xfrm>
          <a:prstGeom prst="rect">
            <a:avLst/>
          </a:prstGeom>
          <a:noFill/>
          <a:ln/>
        </p:spPr>
        <p:txBody>
          <a:bodyPr wrap="square" lIns="0" tIns="0" rIns="0" bIns="0"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4   TEST</a:t>
            </a:r>
            <a:endParaRPr lang="en-US" sz="1400" dirty="0"/>
          </a:p>
        </p:txBody>
      </p:sp>
      <p:sp>
        <p:nvSpPr>
          <p:cNvPr id="20" name="Shape 18"/>
          <p:cNvSpPr/>
          <p:nvPr/>
        </p:nvSpPr>
        <p:spPr>
          <a:xfrm>
            <a:off x="7589520" y="4142232"/>
            <a:ext cx="4023360" cy="384048"/>
          </a:xfrm>
          <a:prstGeom prst="roundRect">
            <a:avLst>
              <a:gd name="adj" fmla="val 50000"/>
            </a:avLst>
          </a:prstGeom>
          <a:solidFill>
            <a:srgbClr val="FF6B81">
              <a:alpha val="18000"/>
            </a:srgbClr>
          </a:solidFill>
          <a:ln w="12700">
            <a:solidFill>
              <a:srgbClr val="FF6B81"/>
            </a:solidFill>
            <a:prstDash val="solid"/>
          </a:ln>
        </p:spPr>
      </p:sp>
      <p:sp>
        <p:nvSpPr>
          <p:cNvPr id="21" name="Text 19"/>
          <p:cNvSpPr txBox="1"/>
          <p:nvPr/>
        </p:nvSpPr>
        <p:spPr>
          <a:xfrm>
            <a:off x="7772400" y="4142232"/>
            <a:ext cx="3657600" cy="384048"/>
          </a:xfrm>
          <a:prstGeom prst="rect">
            <a:avLst/>
          </a:prstGeom>
          <a:noFill/>
          <a:ln/>
        </p:spPr>
        <p:txBody>
          <a:bodyPr wrap="square" lIns="0" tIns="0" rIns="0" bIns="0" rtlCol="0" anchor="ctr"/>
          <a:lstStyle/>
          <a:p>
            <a:pPr indent="0" marL="0">
              <a:buNone/>
            </a:pPr>
            <a:r>
              <a:rPr lang="en-US" sz="1400" b="1" dirty="0">
                <a:solidFill>
                  <a:srgbClr val="FF6B81"/>
                </a:solidFill>
                <a:latin typeface="Calibri" pitchFamily="34" charset="0"/>
                <a:ea typeface="Calibri" pitchFamily="34" charset="-122"/>
                <a:cs typeface="Calibri" pitchFamily="34" charset="-120"/>
              </a:rPr>
              <a:t>5   FAILURE</a:t>
            </a:r>
            <a:endParaRPr lang="en-US" sz="1400" dirty="0"/>
          </a:p>
        </p:txBody>
      </p:sp>
      <p:sp>
        <p:nvSpPr>
          <p:cNvPr id="22" name="Shape 20"/>
          <p:cNvSpPr/>
          <p:nvPr/>
        </p:nvSpPr>
        <p:spPr>
          <a:xfrm>
            <a:off x="7589520" y="4617720"/>
            <a:ext cx="4023360" cy="384048"/>
          </a:xfrm>
          <a:prstGeom prst="roundRect">
            <a:avLst>
              <a:gd name="adj" fmla="val 50000"/>
            </a:avLst>
          </a:prstGeom>
          <a:solidFill>
            <a:srgbClr val="F0B429">
              <a:alpha val="18000"/>
            </a:srgbClr>
          </a:solidFill>
          <a:ln w="12700">
            <a:solidFill>
              <a:srgbClr val="F0B429"/>
            </a:solidFill>
            <a:prstDash val="solid"/>
          </a:ln>
        </p:spPr>
      </p:sp>
      <p:sp>
        <p:nvSpPr>
          <p:cNvPr id="23" name="Text 21"/>
          <p:cNvSpPr txBox="1"/>
          <p:nvPr/>
        </p:nvSpPr>
        <p:spPr>
          <a:xfrm>
            <a:off x="7772400" y="4617720"/>
            <a:ext cx="3657600" cy="384048"/>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6   RECOVER</a:t>
            </a:r>
            <a:endParaRPr lang="en-US" sz="1400" dirty="0"/>
          </a:p>
        </p:txBody>
      </p:sp>
      <p:sp>
        <p:nvSpPr>
          <p:cNvPr id="24" name="Shape 22"/>
          <p:cNvSpPr/>
          <p:nvPr/>
        </p:nvSpPr>
        <p:spPr>
          <a:xfrm>
            <a:off x="7589520" y="5093208"/>
            <a:ext cx="4023360" cy="384048"/>
          </a:xfrm>
          <a:prstGeom prst="roundRect">
            <a:avLst>
              <a:gd name="adj" fmla="val 50000"/>
            </a:avLst>
          </a:prstGeom>
          <a:solidFill>
            <a:srgbClr val="3FB950">
              <a:alpha val="18000"/>
            </a:srgbClr>
          </a:solidFill>
          <a:ln w="12700">
            <a:solidFill>
              <a:srgbClr val="3FB950"/>
            </a:solidFill>
            <a:prstDash val="solid"/>
          </a:ln>
        </p:spPr>
      </p:sp>
      <p:sp>
        <p:nvSpPr>
          <p:cNvPr id="25" name="Text 23"/>
          <p:cNvSpPr txBox="1"/>
          <p:nvPr/>
        </p:nvSpPr>
        <p:spPr>
          <a:xfrm>
            <a:off x="7772400" y="5093208"/>
            <a:ext cx="3657600" cy="384048"/>
          </a:xfrm>
          <a:prstGeom prst="rect">
            <a:avLst/>
          </a:prstGeom>
          <a:noFill/>
          <a:ln/>
        </p:spPr>
        <p:txBody>
          <a:bodyPr wrap="square" lIns="0" tIns="0" rIns="0" bIns="0" rtlCol="0" anchor="ctr"/>
          <a:lstStyle/>
          <a:p>
            <a:pPr indent="0" marL="0">
              <a:buNone/>
            </a:pPr>
            <a:r>
              <a:rPr lang="en-US" sz="1400" b="1" dirty="0">
                <a:solidFill>
                  <a:srgbClr val="3FB950"/>
                </a:solidFill>
                <a:latin typeface="Calibri" pitchFamily="34" charset="0"/>
                <a:ea typeface="Calibri" pitchFamily="34" charset="-122"/>
                <a:cs typeface="Calibri" pitchFamily="34" charset="-120"/>
              </a:rPr>
              <a:t>7   VERIFY</a:t>
            </a:r>
            <a:endParaRPr lang="en-US" sz="1400" dirty="0"/>
          </a:p>
        </p:txBody>
      </p:sp>
      <p:sp>
        <p:nvSpPr>
          <p:cNvPr id="26" name="Shape 24"/>
          <p:cNvSpPr/>
          <p:nvPr/>
        </p:nvSpPr>
        <p:spPr>
          <a:xfrm>
            <a:off x="7589520" y="5568696"/>
            <a:ext cx="4023360" cy="384048"/>
          </a:xfrm>
          <a:prstGeom prst="roundRect">
            <a:avLst>
              <a:gd name="adj" fmla="val 50000"/>
            </a:avLst>
          </a:prstGeom>
          <a:solidFill>
            <a:srgbClr val="58A6FF">
              <a:alpha val="18000"/>
            </a:srgbClr>
          </a:solidFill>
          <a:ln w="12700">
            <a:solidFill>
              <a:srgbClr val="58A6FF"/>
            </a:solidFill>
            <a:prstDash val="solid"/>
          </a:ln>
        </p:spPr>
      </p:sp>
      <p:sp>
        <p:nvSpPr>
          <p:cNvPr id="27" name="Text 25"/>
          <p:cNvSpPr txBox="1"/>
          <p:nvPr/>
        </p:nvSpPr>
        <p:spPr>
          <a:xfrm>
            <a:off x="7772400" y="5568696"/>
            <a:ext cx="3657600" cy="384048"/>
          </a:xfrm>
          <a:prstGeom prst="rect">
            <a:avLst/>
          </a:prstGeom>
          <a:noFill/>
          <a:ln/>
        </p:spPr>
        <p:txBody>
          <a:bodyPr wrap="square" lIns="0" tIns="0" rIns="0" bIns="0"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8   REPORT</a:t>
            </a:r>
            <a:endParaRPr lang="en-US" sz="1400" dirty="0"/>
          </a:p>
        </p:txBody>
      </p:sp>
      <p:sp>
        <p:nvSpPr>
          <p:cNvPr id="28" name="Text 26"/>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B949E"/>
                </a:solidFill>
                <a:latin typeface="Calibri" pitchFamily="34" charset="0"/>
                <a:ea typeface="Calibri" pitchFamily="34" charset="-122"/>
                <a:cs typeface="Calibri" pitchFamily="34" charset="-120"/>
              </a:rPr>
              <a:t>VeriSWE  ·  github.com/oksaumya/veriswe</a:t>
            </a:r>
            <a:endParaRPr lang="en-US" sz="1000" dirty="0"/>
          </a:p>
        </p:txBody>
      </p:sp>
      <p:sp>
        <p:nvSpPr>
          <p:cNvPr id="29" name="Text 27"/>
          <p:cNvSpPr txBox="1"/>
          <p:nvPr/>
        </p:nvSpPr>
        <p:spPr>
          <a:xfrm>
            <a:off x="11185855" y="6446520"/>
            <a:ext cx="457200" cy="274320"/>
          </a:xfrm>
          <a:prstGeom prst="rect">
            <a:avLst/>
          </a:prstGeom>
          <a:noFill/>
          <a:ln/>
        </p:spPr>
        <p:txBody>
          <a:bodyPr wrap="square" lIns="0" tIns="0" rIns="0" bIns="0" rtlCol="0" anchor="t"/>
          <a:lstStyle/>
          <a:p>
            <a:pPr algn="r" indent="0" marL="0">
              <a:buNone/>
            </a:pPr>
            <a:r>
              <a:rPr lang="en-US" sz="1000" dirty="0">
                <a:solidFill>
                  <a:srgbClr val="8B949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731520"/>
            <a:ext cx="6400800" cy="914400"/>
          </a:xfrm>
          <a:prstGeom prst="rect">
            <a:avLst/>
          </a:prstGeom>
          <a:noFill/>
          <a:ln/>
        </p:spPr>
        <p:txBody>
          <a:bodyPr wrap="square" lIns="0" tIns="0" rIns="0" bIns="0" rtlCol="0" anchor="ctr"/>
          <a:lstStyle/>
          <a:p>
            <a:pPr indent="0" marL="0">
              <a:buNone/>
            </a:pPr>
            <a:r>
              <a:rPr lang="en-US" sz="4400" b="1" dirty="0">
                <a:solidFill>
                  <a:srgbClr val="E6EDF3"/>
                </a:solidFill>
                <a:latin typeface="Arial" pitchFamily="34" charset="0"/>
                <a:ea typeface="Arial" pitchFamily="34" charset="-122"/>
                <a:cs typeface="Arial" pitchFamily="34" charset="-120"/>
              </a:rPr>
              <a:t>Not an LLM wrapper.</a:t>
            </a:r>
            <a:endParaRPr lang="en-US" sz="4400" dirty="0"/>
          </a:p>
        </p:txBody>
      </p:sp>
      <p:sp>
        <p:nvSpPr>
          <p:cNvPr id="3" name="Text 1"/>
          <p:cNvSpPr txBox="1"/>
          <p:nvPr/>
        </p:nvSpPr>
        <p:spPr>
          <a:xfrm>
            <a:off x="548640" y="1737360"/>
            <a:ext cx="6035040" cy="914400"/>
          </a:xfrm>
          <a:prstGeom prst="rect">
            <a:avLst/>
          </a:prstGeom>
          <a:noFill/>
          <a:ln/>
        </p:spPr>
        <p:txBody>
          <a:bodyPr wrap="square" lIns="0" tIns="0" rIns="0" bIns="0" rtlCol="0" anchor="t"/>
          <a:lstStyle/>
          <a:p>
            <a:pPr indent="0" marL="0">
              <a:buNone/>
            </a:pPr>
            <a:r>
              <a:rPr lang="en-US" sz="1800" dirty="0">
                <a:solidFill>
                  <a:srgbClr val="79C0FF"/>
                </a:solidFill>
                <a:latin typeface="Calibri" pitchFamily="34" charset="0"/>
                <a:ea typeface="Calibri" pitchFamily="34" charset="-122"/>
                <a:cs typeface="Calibri" pitchFamily="34" charset="-120"/>
              </a:rPr>
              <a:t>A harness that turns a foundation model into an engineer you can trust — because it proves its work.</a:t>
            </a:r>
            <a:endParaRPr lang="en-US" sz="1800" dirty="0"/>
          </a:p>
        </p:txBody>
      </p:sp>
      <p:sp>
        <p:nvSpPr>
          <p:cNvPr id="4" name="Text 2"/>
          <p:cNvSpPr txBox="1"/>
          <p:nvPr/>
        </p:nvSpPr>
        <p:spPr>
          <a:xfrm>
            <a:off x="548640" y="2926080"/>
            <a:ext cx="2377440" cy="384048"/>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Foundation model</a:t>
            </a:r>
            <a:endParaRPr lang="en-US" sz="1600" dirty="0"/>
          </a:p>
        </p:txBody>
      </p:sp>
      <p:sp>
        <p:nvSpPr>
          <p:cNvPr id="5" name="Text 3"/>
          <p:cNvSpPr txBox="1"/>
          <p:nvPr/>
        </p:nvSpPr>
        <p:spPr>
          <a:xfrm>
            <a:off x="2926080" y="2926080"/>
            <a:ext cx="457200" cy="384048"/>
          </a:xfrm>
          <a:prstGeom prst="rect">
            <a:avLst/>
          </a:prstGeom>
          <a:noFill/>
          <a:ln/>
        </p:spPr>
        <p:txBody>
          <a:bodyPr wrap="square" lIns="0" tIns="0" rIns="0" bIns="0" rtlCol="0" anchor="ctr"/>
          <a:lstStyle/>
          <a:p>
            <a:pPr indent="0" marL="0">
              <a:buNone/>
            </a:pPr>
            <a:r>
              <a:rPr lang="en-US" sz="1600" dirty="0">
                <a:solidFill>
                  <a:srgbClr val="30363D"/>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3383280" y="2926080"/>
            <a:ext cx="2743200" cy="384048"/>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Reasoning</a:t>
            </a:r>
            <a:endParaRPr lang="en-US" sz="1600" dirty="0"/>
          </a:p>
        </p:txBody>
      </p:sp>
      <p:sp>
        <p:nvSpPr>
          <p:cNvPr id="7" name="Text 5"/>
          <p:cNvSpPr txBox="1"/>
          <p:nvPr/>
        </p:nvSpPr>
        <p:spPr>
          <a:xfrm>
            <a:off x="548640" y="3355848"/>
            <a:ext cx="2377440" cy="384048"/>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Harness</a:t>
            </a:r>
            <a:endParaRPr lang="en-US" sz="1600" dirty="0"/>
          </a:p>
        </p:txBody>
      </p:sp>
      <p:sp>
        <p:nvSpPr>
          <p:cNvPr id="8" name="Text 6"/>
          <p:cNvSpPr txBox="1"/>
          <p:nvPr/>
        </p:nvSpPr>
        <p:spPr>
          <a:xfrm>
            <a:off x="2926080" y="3355848"/>
            <a:ext cx="457200" cy="384048"/>
          </a:xfrm>
          <a:prstGeom prst="rect">
            <a:avLst/>
          </a:prstGeom>
          <a:noFill/>
          <a:ln/>
        </p:spPr>
        <p:txBody>
          <a:bodyPr wrap="square" lIns="0" tIns="0" rIns="0" bIns="0" rtlCol="0" anchor="ctr"/>
          <a:lstStyle/>
          <a:p>
            <a:pPr indent="0" marL="0">
              <a:buNone/>
            </a:pPr>
            <a:r>
              <a:rPr lang="en-US" sz="1600" dirty="0">
                <a:solidFill>
                  <a:srgbClr val="30363D"/>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3383280" y="3355848"/>
            <a:ext cx="2743200" cy="384048"/>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Autonomy</a:t>
            </a:r>
            <a:endParaRPr lang="en-US" sz="1600" dirty="0"/>
          </a:p>
        </p:txBody>
      </p:sp>
      <p:sp>
        <p:nvSpPr>
          <p:cNvPr id="10" name="Text 8"/>
          <p:cNvSpPr txBox="1"/>
          <p:nvPr/>
        </p:nvSpPr>
        <p:spPr>
          <a:xfrm>
            <a:off x="548640" y="3785616"/>
            <a:ext cx="2377440" cy="384048"/>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Tools</a:t>
            </a:r>
            <a:endParaRPr lang="en-US" sz="1600" dirty="0"/>
          </a:p>
        </p:txBody>
      </p:sp>
      <p:sp>
        <p:nvSpPr>
          <p:cNvPr id="11" name="Text 9"/>
          <p:cNvSpPr txBox="1"/>
          <p:nvPr/>
        </p:nvSpPr>
        <p:spPr>
          <a:xfrm>
            <a:off x="2926080" y="3785616"/>
            <a:ext cx="457200" cy="384048"/>
          </a:xfrm>
          <a:prstGeom prst="rect">
            <a:avLst/>
          </a:prstGeom>
          <a:noFill/>
          <a:ln/>
        </p:spPr>
        <p:txBody>
          <a:bodyPr wrap="square" lIns="0" tIns="0" rIns="0" bIns="0" rtlCol="0" anchor="ctr"/>
          <a:lstStyle/>
          <a:p>
            <a:pPr indent="0" marL="0">
              <a:buNone/>
            </a:pPr>
            <a:r>
              <a:rPr lang="en-US" sz="1600" dirty="0">
                <a:solidFill>
                  <a:srgbClr val="30363D"/>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3383280" y="3785616"/>
            <a:ext cx="2743200" cy="384048"/>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Action</a:t>
            </a:r>
            <a:endParaRPr lang="en-US" sz="1600" dirty="0"/>
          </a:p>
        </p:txBody>
      </p:sp>
      <p:sp>
        <p:nvSpPr>
          <p:cNvPr id="13" name="Text 11"/>
          <p:cNvSpPr txBox="1"/>
          <p:nvPr/>
        </p:nvSpPr>
        <p:spPr>
          <a:xfrm>
            <a:off x="548640" y="4215384"/>
            <a:ext cx="2377440" cy="384048"/>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Tests</a:t>
            </a:r>
            <a:endParaRPr lang="en-US" sz="1600" dirty="0"/>
          </a:p>
        </p:txBody>
      </p:sp>
      <p:sp>
        <p:nvSpPr>
          <p:cNvPr id="14" name="Text 12"/>
          <p:cNvSpPr txBox="1"/>
          <p:nvPr/>
        </p:nvSpPr>
        <p:spPr>
          <a:xfrm>
            <a:off x="2926080" y="4215384"/>
            <a:ext cx="457200" cy="384048"/>
          </a:xfrm>
          <a:prstGeom prst="rect">
            <a:avLst/>
          </a:prstGeom>
          <a:noFill/>
          <a:ln/>
        </p:spPr>
        <p:txBody>
          <a:bodyPr wrap="square" lIns="0" tIns="0" rIns="0" bIns="0" rtlCol="0" anchor="ctr"/>
          <a:lstStyle/>
          <a:p>
            <a:pPr indent="0" marL="0">
              <a:buNone/>
            </a:pPr>
            <a:r>
              <a:rPr lang="en-US" sz="1600" dirty="0">
                <a:solidFill>
                  <a:srgbClr val="30363D"/>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3383280" y="4215384"/>
            <a:ext cx="2743200" cy="384048"/>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Feedback</a:t>
            </a:r>
            <a:endParaRPr lang="en-US" sz="1600" dirty="0"/>
          </a:p>
        </p:txBody>
      </p:sp>
      <p:sp>
        <p:nvSpPr>
          <p:cNvPr id="16" name="Text 14"/>
          <p:cNvSpPr txBox="1"/>
          <p:nvPr/>
        </p:nvSpPr>
        <p:spPr>
          <a:xfrm>
            <a:off x="548640" y="4645152"/>
            <a:ext cx="2377440" cy="384048"/>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Recovery</a:t>
            </a:r>
            <a:endParaRPr lang="en-US" sz="1600" dirty="0"/>
          </a:p>
        </p:txBody>
      </p:sp>
      <p:sp>
        <p:nvSpPr>
          <p:cNvPr id="17" name="Text 15"/>
          <p:cNvSpPr txBox="1"/>
          <p:nvPr/>
        </p:nvSpPr>
        <p:spPr>
          <a:xfrm>
            <a:off x="2926080" y="4645152"/>
            <a:ext cx="457200" cy="384048"/>
          </a:xfrm>
          <a:prstGeom prst="rect">
            <a:avLst/>
          </a:prstGeom>
          <a:noFill/>
          <a:ln/>
        </p:spPr>
        <p:txBody>
          <a:bodyPr wrap="square" lIns="0" tIns="0" rIns="0" bIns="0" rtlCol="0" anchor="ctr"/>
          <a:lstStyle/>
          <a:p>
            <a:pPr indent="0" marL="0">
              <a:buNone/>
            </a:pPr>
            <a:r>
              <a:rPr lang="en-US" sz="1600" dirty="0">
                <a:solidFill>
                  <a:srgbClr val="30363D"/>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3383280" y="4645152"/>
            <a:ext cx="2743200" cy="384048"/>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Resilience</a:t>
            </a:r>
            <a:endParaRPr lang="en-US" sz="1600" dirty="0"/>
          </a:p>
        </p:txBody>
      </p:sp>
      <p:sp>
        <p:nvSpPr>
          <p:cNvPr id="19" name="Text 17"/>
          <p:cNvSpPr txBox="1"/>
          <p:nvPr/>
        </p:nvSpPr>
        <p:spPr>
          <a:xfrm>
            <a:off x="548640" y="5074920"/>
            <a:ext cx="2377440" cy="384048"/>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Verification</a:t>
            </a:r>
            <a:endParaRPr lang="en-US" sz="1600" dirty="0"/>
          </a:p>
        </p:txBody>
      </p:sp>
      <p:sp>
        <p:nvSpPr>
          <p:cNvPr id="20" name="Text 18"/>
          <p:cNvSpPr txBox="1"/>
          <p:nvPr/>
        </p:nvSpPr>
        <p:spPr>
          <a:xfrm>
            <a:off x="2926080" y="5074920"/>
            <a:ext cx="457200" cy="384048"/>
          </a:xfrm>
          <a:prstGeom prst="rect">
            <a:avLst/>
          </a:prstGeom>
          <a:noFill/>
          <a:ln/>
        </p:spPr>
        <p:txBody>
          <a:bodyPr wrap="square" lIns="0" tIns="0" rIns="0" bIns="0" rtlCol="0" anchor="ctr"/>
          <a:lstStyle/>
          <a:p>
            <a:pPr indent="0" marL="0">
              <a:buNone/>
            </a:pPr>
            <a:r>
              <a:rPr lang="en-US" sz="1600" dirty="0">
                <a:solidFill>
                  <a:srgbClr val="30363D"/>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3383280" y="5074920"/>
            <a:ext cx="2743200" cy="384048"/>
          </a:xfrm>
          <a:prstGeom prst="rect">
            <a:avLst/>
          </a:prstGeom>
          <a:noFill/>
          <a:ln/>
        </p:spPr>
        <p:txBody>
          <a:bodyPr wrap="square" lIns="0" tIns="0" rIns="0" bIns="0" rtlCol="0" anchor="ctr"/>
          <a:lstStyle/>
          <a:p>
            <a:pPr indent="0" marL="0">
              <a:buNone/>
            </a:pPr>
            <a:r>
              <a:rPr lang="en-US" sz="1600" b="1" dirty="0">
                <a:solidFill>
                  <a:srgbClr val="3FB950"/>
                </a:solidFill>
                <a:latin typeface="Calibri" pitchFamily="34" charset="0"/>
                <a:ea typeface="Calibri" pitchFamily="34" charset="-122"/>
                <a:cs typeface="Calibri" pitchFamily="34" charset="-120"/>
              </a:rPr>
              <a:t>Trust</a:t>
            </a:r>
            <a:endParaRPr lang="en-US" sz="1600" dirty="0"/>
          </a:p>
        </p:txBody>
      </p:sp>
      <p:sp>
        <p:nvSpPr>
          <p:cNvPr id="22" name="Text 20"/>
          <p:cNvSpPr txBox="1"/>
          <p:nvPr/>
        </p:nvSpPr>
        <p:spPr>
          <a:xfrm>
            <a:off x="548640" y="5504688"/>
            <a:ext cx="2377440" cy="384048"/>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Telemetry</a:t>
            </a:r>
            <a:endParaRPr lang="en-US" sz="1600" dirty="0"/>
          </a:p>
        </p:txBody>
      </p:sp>
      <p:sp>
        <p:nvSpPr>
          <p:cNvPr id="23" name="Text 21"/>
          <p:cNvSpPr txBox="1"/>
          <p:nvPr/>
        </p:nvSpPr>
        <p:spPr>
          <a:xfrm>
            <a:off x="2926080" y="5504688"/>
            <a:ext cx="457200" cy="384048"/>
          </a:xfrm>
          <a:prstGeom prst="rect">
            <a:avLst/>
          </a:prstGeom>
          <a:noFill/>
          <a:ln/>
        </p:spPr>
        <p:txBody>
          <a:bodyPr wrap="square" lIns="0" tIns="0" rIns="0" bIns="0" rtlCol="0" anchor="ctr"/>
          <a:lstStyle/>
          <a:p>
            <a:pPr indent="0" marL="0">
              <a:buNone/>
            </a:pPr>
            <a:r>
              <a:rPr lang="en-US" sz="1600" dirty="0">
                <a:solidFill>
                  <a:srgbClr val="30363D"/>
                </a:solidFill>
                <a:latin typeface="Calibri" pitchFamily="34" charset="0"/>
                <a:ea typeface="Calibri" pitchFamily="34" charset="-122"/>
                <a:cs typeface="Calibri" pitchFamily="34" charset="-120"/>
              </a:rPr>
              <a:t>→</a:t>
            </a:r>
            <a:endParaRPr lang="en-US" sz="1600" dirty="0"/>
          </a:p>
        </p:txBody>
      </p:sp>
      <p:sp>
        <p:nvSpPr>
          <p:cNvPr id="24" name="Text 22"/>
          <p:cNvSpPr txBox="1"/>
          <p:nvPr/>
        </p:nvSpPr>
        <p:spPr>
          <a:xfrm>
            <a:off x="3383280" y="5504688"/>
            <a:ext cx="2743200" cy="384048"/>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Observability</a:t>
            </a:r>
            <a:endParaRPr lang="en-US" sz="1600" dirty="0"/>
          </a:p>
        </p:txBody>
      </p:sp>
      <p:sp>
        <p:nvSpPr>
          <p:cNvPr id="25" name="Shape 23"/>
          <p:cNvSpPr/>
          <p:nvPr/>
        </p:nvSpPr>
        <p:spPr>
          <a:xfrm>
            <a:off x="6949440" y="1097280"/>
            <a:ext cx="4709160" cy="4297680"/>
          </a:xfrm>
          <a:prstGeom prst="roundRect">
            <a:avLst>
              <a:gd name="adj" fmla="val 2553"/>
            </a:avLst>
          </a:prstGeom>
          <a:solidFill>
            <a:srgbClr val="111C2E"/>
          </a:solidFill>
          <a:ln w="12700">
            <a:solidFill>
              <a:srgbClr val="1F6FEB"/>
            </a:solidFill>
            <a:prstDash val="solid"/>
          </a:ln>
          <a:effectLst>
            <a:outerShdw sx="100000" sy="100000" kx="0" ky="0" algn="bl" rotWithShape="0" blurRad="152400" dist="50800" dir="5400000">
              <a:srgbClr val="000000">
                <a:alpha val="45000"/>
              </a:srgbClr>
            </a:outerShdw>
          </a:effectLst>
        </p:spPr>
      </p:sp>
      <p:sp>
        <p:nvSpPr>
          <p:cNvPr id="26" name="Shape 24"/>
          <p:cNvSpPr/>
          <p:nvPr/>
        </p:nvSpPr>
        <p:spPr>
          <a:xfrm>
            <a:off x="8823960" y="1325880"/>
            <a:ext cx="960120" cy="960120"/>
          </a:xfrm>
          <a:prstGeom prst="roundRect">
            <a:avLst>
              <a:gd name="adj" fmla="val 9524"/>
            </a:avLst>
          </a:prstGeom>
          <a:solidFill>
            <a:srgbClr val="E6EDF3">
              <a:alpha val="18000"/>
            </a:srgbClr>
          </a:solidFill>
          <a:ln w="12700">
            <a:solidFill>
              <a:srgbClr val="E6EDF3"/>
            </a:solidFill>
            <a:prstDash val="solid"/>
          </a:ln>
        </p:spPr>
      </p:sp>
      <p:pic>
        <p:nvPicPr>
          <p:cNvPr id="27" name="Image 0" descr="preencoded.png">    </p:cNvPr>
          <p:cNvPicPr>
            <a:picLocks noChangeAspect="1"/>
          </p:cNvPicPr>
          <p:nvPr/>
        </p:nvPicPr>
        <p:blipFill>
          <a:blip r:embed="rId1"/>
          <a:stretch>
            <a:fillRect/>
          </a:stretch>
        </p:blipFill>
        <p:spPr>
          <a:xfrm>
            <a:off x="9035186" y="1537106"/>
            <a:ext cx="537667" cy="537667"/>
          </a:xfrm>
          <a:prstGeom prst="rect">
            <a:avLst/>
          </a:prstGeom>
        </p:spPr>
      </p:pic>
      <p:sp>
        <p:nvSpPr>
          <p:cNvPr id="28" name="Text 25"/>
          <p:cNvSpPr txBox="1"/>
          <p:nvPr/>
        </p:nvSpPr>
        <p:spPr>
          <a:xfrm>
            <a:off x="6949440" y="2468880"/>
            <a:ext cx="4709160" cy="457200"/>
          </a:xfrm>
          <a:prstGeom prst="rect">
            <a:avLst/>
          </a:prstGeom>
          <a:noFill/>
          <a:ln/>
        </p:spPr>
        <p:txBody>
          <a:bodyPr wrap="square" lIns="0" tIns="0" rIns="0" bIns="0" rtlCol="0" anchor="t"/>
          <a:lstStyle/>
          <a:p>
            <a:pPr algn="ctr" indent="0" marL="0">
              <a:buNone/>
            </a:pPr>
            <a:r>
              <a:rPr lang="en-US" sz="2200" b="1" dirty="0">
                <a:solidFill>
                  <a:srgbClr val="E6EDF3"/>
                </a:solidFill>
                <a:latin typeface="Calibri" pitchFamily="34" charset="0"/>
                <a:ea typeface="Calibri" pitchFamily="34" charset="-122"/>
                <a:cs typeface="Calibri" pitchFamily="34" charset="-120"/>
              </a:rPr>
              <a:t>Try it</a:t>
            </a:r>
            <a:endParaRPr lang="en-US" sz="2200" dirty="0"/>
          </a:p>
        </p:txBody>
      </p:sp>
      <p:sp>
        <p:nvSpPr>
          <p:cNvPr id="29" name="Text 26"/>
          <p:cNvSpPr txBox="1"/>
          <p:nvPr/>
        </p:nvSpPr>
        <p:spPr>
          <a:xfrm>
            <a:off x="6949440" y="2971800"/>
            <a:ext cx="4709160" cy="411480"/>
          </a:xfrm>
          <a:prstGeom prst="rect">
            <a:avLst/>
          </a:prstGeom>
          <a:noFill/>
          <a:ln/>
        </p:spPr>
        <p:txBody>
          <a:bodyPr wrap="square" lIns="0" tIns="0" rIns="0" bIns="0" rtlCol="0" anchor="t"/>
          <a:lstStyle/>
          <a:p>
            <a:pPr algn="ctr" indent="0" marL="0">
              <a:buNone/>
            </a:pPr>
            <a:r>
              <a:rPr lang="en-US" sz="1600" dirty="0">
                <a:solidFill>
                  <a:srgbClr val="79C0FF"/>
                </a:solidFill>
                <a:latin typeface="Courier New" pitchFamily="34" charset="0"/>
                <a:ea typeface="Courier New" pitchFamily="34" charset="-122"/>
                <a:cs typeface="Courier New" pitchFamily="34" charset="-120"/>
              </a:rPr>
              <a:t>github.com/oksaumya/veriswe</a:t>
            </a:r>
            <a:endParaRPr lang="en-US" sz="1600" dirty="0"/>
          </a:p>
        </p:txBody>
      </p:sp>
      <p:sp>
        <p:nvSpPr>
          <p:cNvPr id="30" name="Text 27"/>
          <p:cNvSpPr txBox="1"/>
          <p:nvPr/>
        </p:nvSpPr>
        <p:spPr>
          <a:xfrm>
            <a:off x="7223760" y="3657600"/>
            <a:ext cx="4160520" cy="1645920"/>
          </a:xfrm>
          <a:prstGeom prst="rect">
            <a:avLst/>
          </a:prstGeom>
          <a:noFill/>
          <a:ln/>
        </p:spPr>
        <p:txBody>
          <a:bodyPr wrap="square" lIns="0" tIns="0" rIns="0" bIns="0" rtlCol="0" anchor="t"/>
          <a:lstStyle/>
          <a:p>
            <a:pPr algn="ctr" indent="0" marL="0">
              <a:buNone/>
            </a:pPr>
            <a:r>
              <a:rPr lang="en-US" sz="1400" dirty="0">
                <a:solidFill>
                  <a:srgbClr val="E6EDF3"/>
                </a:solidFill>
                <a:latin typeface="Courier New" pitchFamily="34" charset="0"/>
                <a:ea typeface="Courier New" pitchFamily="34" charset="-122"/>
                <a:cs typeface="Courier New" pitchFamily="34" charset="-120"/>
              </a:rPr>
              <a:t>docs/hackathon/REQUIREMENTS.md</a:t>
            </a:r>
            <a:endParaRPr lang="en-US" sz="1400" dirty="0"/>
          </a:p>
          <a:p>
            <a:pPr algn="ctr" indent="0" marL="0">
              <a:buNone/>
            </a:pPr>
            <a:r>
              <a:rPr lang="en-US" sz="1200" dirty="0">
                <a:solidFill>
                  <a:srgbClr val="8B949E"/>
                </a:solidFill>
                <a:latin typeface="Courier New" pitchFamily="34" charset="0"/>
                <a:ea typeface="Courier New" pitchFamily="34" charset="-122"/>
                <a:cs typeface="Courier New" pitchFamily="34" charset="-120"/>
              </a:rPr>
              <a:t>requirement → implementation → evidence</a:t>
            </a:r>
            <a:endParaRPr lang="en-US" sz="1400" dirty="0"/>
          </a:p>
          <a:p>
            <a:pPr algn="ctr" indent="0" marL="0">
              <a:buNone/>
            </a:pPr>
            <a:r>
              <a:rPr lang="en-US" sz="600" dirty="0">
                <a:solidFill>
                  <a:srgbClr val="E6EDF3"/>
                </a:solidFill>
                <a:latin typeface="Courier New" pitchFamily="34" charset="0"/>
                <a:ea typeface="Courier New" pitchFamily="34" charset="-122"/>
                <a:cs typeface="Courier New" pitchFamily="34" charset="-120"/>
              </a:rPr>
              <a:t> </a:t>
            </a:r>
            <a:endParaRPr lang="en-US" sz="1400" dirty="0"/>
          </a:p>
          <a:p>
            <a:pPr algn="ctr" indent="0" marL="0">
              <a:buNone/>
            </a:pPr>
            <a:r>
              <a:rPr lang="en-US" sz="1400" dirty="0">
                <a:solidFill>
                  <a:srgbClr val="E6EDF3"/>
                </a:solidFill>
                <a:latin typeface="Courier New" pitchFamily="34" charset="0"/>
                <a:ea typeface="Courier New" pitchFamily="34" charset="-122"/>
                <a:cs typeface="Courier New" pitchFamily="34" charset="-120"/>
              </a:rPr>
              <a:t>docs/hackathon/DEMO_RUNBOOK.md</a:t>
            </a:r>
            <a:endParaRPr lang="en-US" sz="1400" dirty="0"/>
          </a:p>
          <a:p>
            <a:pPr algn="ctr" indent="0" marL="0">
              <a:buNone/>
            </a:pPr>
            <a:r>
              <a:rPr lang="en-US" sz="1200" dirty="0">
                <a:solidFill>
                  <a:srgbClr val="8B949E"/>
                </a:solidFill>
                <a:latin typeface="Courier New" pitchFamily="34" charset="0"/>
                <a:ea typeface="Courier New" pitchFamily="34" charset="-122"/>
                <a:cs typeface="Courier New" pitchFamily="34" charset="-120"/>
              </a:rPr>
              <a:t>the demo script</a:t>
            </a:r>
            <a:endParaRPr lang="en-US" sz="1400" dirty="0"/>
          </a:p>
        </p:txBody>
      </p:sp>
      <p:sp>
        <p:nvSpPr>
          <p:cNvPr id="31" name="Text 28"/>
          <p:cNvSpPr txBox="1"/>
          <p:nvPr/>
        </p:nvSpPr>
        <p:spPr>
          <a:xfrm>
            <a:off x="548640" y="6172200"/>
            <a:ext cx="11064240" cy="411480"/>
          </a:xfrm>
          <a:prstGeom prst="rect">
            <a:avLst/>
          </a:prstGeom>
          <a:noFill/>
          <a:ln/>
        </p:spPr>
        <p:txBody>
          <a:bodyPr wrap="square" lIns="0" tIns="0" rIns="0" bIns="0" rtlCol="0" anchor="t"/>
          <a:lstStyle/>
          <a:p>
            <a:pPr indent="0" marL="0">
              <a:buNone/>
            </a:pPr>
            <a:r>
              <a:rPr lang="en-US" sz="1600" i="1" dirty="0">
                <a:solidFill>
                  <a:srgbClr val="3FB950"/>
                </a:solidFill>
                <a:latin typeface="Calibri" pitchFamily="34" charset="0"/>
                <a:ea typeface="Calibri" pitchFamily="34" charset="-122"/>
                <a:cs typeface="Calibri" pitchFamily="34" charset="-120"/>
              </a:rPr>
              <a:t>Same model. Different harness. Evidence over claims.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VeriSWE — verification-first coding-agent harness</dc:title>
  <dc:subject>PptxGenJS Presentation</dc:subject>
  <dc:creator>oksaumya</dc:creator>
  <cp:lastModifiedBy>oksaumya</cp:lastModifiedBy>
  <cp:revision>1</cp:revision>
  <dcterms:created xsi:type="dcterms:W3CDTF">2026-09-27T11:26:34Z</dcterms:created>
  <dcterms:modified xsi:type="dcterms:W3CDTF">2026-09-27T11:26:34Z</dcterms:modified>
</cp:coreProperties>
</file>